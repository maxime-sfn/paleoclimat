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2" r:id="rId5"/>
    <p:sldId id="263" r:id="rId6"/>
    <p:sldId id="265" r:id="rId7"/>
    <p:sldId id="283" r:id="rId8"/>
    <p:sldId id="266" r:id="rId9"/>
    <p:sldId id="267" r:id="rId10"/>
    <p:sldId id="260" r:id="rId11"/>
    <p:sldId id="268" r:id="rId12"/>
    <p:sldId id="269" r:id="rId13"/>
    <p:sldId id="270" r:id="rId14"/>
    <p:sldId id="271" r:id="rId15"/>
    <p:sldId id="272" r:id="rId16"/>
    <p:sldId id="273" r:id="rId17"/>
    <p:sldId id="275" r:id="rId18"/>
    <p:sldId id="274" r:id="rId19"/>
    <p:sldId id="276" r:id="rId20"/>
    <p:sldId id="277" r:id="rId21"/>
    <p:sldId id="278" r:id="rId22"/>
    <p:sldId id="279" r:id="rId23"/>
    <p:sldId id="280" r:id="rId24"/>
    <p:sldId id="282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065972-5317-42B7-8774-121C1DC3676C}" v="7" dt="2025-05-19T10:21:23.85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2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ime Saffon" userId="25515bfe69c2a72d" providerId="LiveId" clId="{49065972-5317-42B7-8774-121C1DC3676C}"/>
    <pc:docChg chg="custSel modSld">
      <pc:chgData name="Maxime Saffon" userId="25515bfe69c2a72d" providerId="LiveId" clId="{49065972-5317-42B7-8774-121C1DC3676C}" dt="2025-05-19T10:21:23.856" v="11" actId="1076"/>
      <pc:docMkLst>
        <pc:docMk/>
      </pc:docMkLst>
      <pc:sldChg chg="modSp mod">
        <pc:chgData name="Maxime Saffon" userId="25515bfe69c2a72d" providerId="LiveId" clId="{49065972-5317-42B7-8774-121C1DC3676C}" dt="2025-05-19T10:19:42.298" v="1" actId="13926"/>
        <pc:sldMkLst>
          <pc:docMk/>
          <pc:sldMk cId="4021005611" sldId="256"/>
        </pc:sldMkLst>
        <pc:spChg chg="mod">
          <ac:chgData name="Maxime Saffon" userId="25515bfe69c2a72d" providerId="LiveId" clId="{49065972-5317-42B7-8774-121C1DC3676C}" dt="2025-05-19T10:19:42.298" v="1" actId="13926"/>
          <ac:spMkLst>
            <pc:docMk/>
            <pc:sldMk cId="4021005611" sldId="256"/>
            <ac:spMk id="3" creationId="{BB7162E2-F2C2-FE4B-48B0-4A5B3F9B9CAC}"/>
          </ac:spMkLst>
        </pc:spChg>
      </pc:sldChg>
      <pc:sldChg chg="modSp mod">
        <pc:chgData name="Maxime Saffon" userId="25515bfe69c2a72d" providerId="LiveId" clId="{49065972-5317-42B7-8774-121C1DC3676C}" dt="2025-05-19T10:19:57.748" v="2" actId="1076"/>
        <pc:sldMkLst>
          <pc:docMk/>
          <pc:sldMk cId="164036177" sldId="262"/>
        </pc:sldMkLst>
        <pc:spChg chg="mod">
          <ac:chgData name="Maxime Saffon" userId="25515bfe69c2a72d" providerId="LiveId" clId="{49065972-5317-42B7-8774-121C1DC3676C}" dt="2025-05-19T10:19:57.748" v="2" actId="1076"/>
          <ac:spMkLst>
            <pc:docMk/>
            <pc:sldMk cId="164036177" sldId="262"/>
            <ac:spMk id="31" creationId="{4746ADEB-4AC1-E1DB-D97E-E542DCD12150}"/>
          </ac:spMkLst>
        </pc:spChg>
      </pc:sldChg>
      <pc:sldChg chg="addSp delSp modSp mod">
        <pc:chgData name="Maxime Saffon" userId="25515bfe69c2a72d" providerId="LiveId" clId="{49065972-5317-42B7-8774-121C1DC3676C}" dt="2025-05-19T10:21:23.856" v="11" actId="1076"/>
        <pc:sldMkLst>
          <pc:docMk/>
          <pc:sldMk cId="2543521050" sldId="267"/>
        </pc:sldMkLst>
        <pc:spChg chg="del mod">
          <ac:chgData name="Maxime Saffon" userId="25515bfe69c2a72d" providerId="LiveId" clId="{49065972-5317-42B7-8774-121C1DC3676C}" dt="2025-05-19T10:20:55.425" v="5" actId="478"/>
          <ac:spMkLst>
            <pc:docMk/>
            <pc:sldMk cId="2543521050" sldId="267"/>
            <ac:spMk id="6" creationId="{023A00A0-F05B-9CF8-DB5A-314C7DE13CE2}"/>
          </ac:spMkLst>
        </pc:spChg>
        <pc:picChg chg="add del mod">
          <ac:chgData name="Maxime Saffon" userId="25515bfe69c2a72d" providerId="LiveId" clId="{49065972-5317-42B7-8774-121C1DC3676C}" dt="2025-05-19T10:21:17.838" v="8" actId="478"/>
          <ac:picMkLst>
            <pc:docMk/>
            <pc:sldMk cId="2543521050" sldId="267"/>
            <ac:picMk id="1026" creationId="{E07A7923-20A0-9D11-2BD4-EB27B8F84EC1}"/>
          </ac:picMkLst>
        </pc:picChg>
        <pc:picChg chg="add mod">
          <ac:chgData name="Maxime Saffon" userId="25515bfe69c2a72d" providerId="LiveId" clId="{49065972-5317-42B7-8774-121C1DC3676C}" dt="2025-05-19T10:21:23.856" v="11" actId="1076"/>
          <ac:picMkLst>
            <pc:docMk/>
            <pc:sldMk cId="2543521050" sldId="267"/>
            <ac:picMk id="1028" creationId="{F637F614-F401-8D82-3007-C77FC7EFC303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4AF4C-7FBA-E4BF-B005-461D0964DD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091AF-84E4-A87B-71E0-46EAFA8804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B228F-D496-D719-8CF9-D497EE528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33A02-140A-EA14-54FD-3689D9450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834C6A-FA6A-535E-0B5D-8751C7A63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702015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3A5322-F98B-D0C7-B4DD-A037DB9A5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992620-D51E-E3A4-B985-DF936010B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98061C-94B2-66FD-0F3D-5C7576F92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755C7-4DCF-F10F-787C-E1852C47E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E8E935-B836-DAD3-872E-DB7D35EC2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274711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DB6D5-D1A0-E726-D1F9-FD0E7E64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457C2F-0041-C1AE-A2BF-BC6913976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A36F7E-AC52-6063-DBB7-109F0DDB1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EE35F-5D15-98A5-5C48-577FE86A0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8A6C3F-5783-87D3-A1F8-BCA00500B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5274444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904242-0EBD-873B-A4A8-82C7FBC353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CFD06-A231-FFF7-91C4-28E9D894E6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87CDF6-0346-6B34-B6B4-416FCD646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9F560E-62CC-73A8-240A-4CEC1C1FD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3534E-D398-E545-8E07-74CED609E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2986CF-7D40-FCB1-9350-795EDF423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3296033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63758-526C-BC08-7589-CB24D17A87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E54D20-49AB-1DC2-E7A4-B5C9A815F2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A26756-AC16-C506-D9C3-0A4BB7205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9D54DA-7B70-D1DB-3897-45272698E0B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087E38-5058-9147-00E8-2D84CD7A165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956CC3-7D12-CA10-1B4C-4EA514AD7B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CAEFFCE-6C4F-A9ED-3669-ABE1BC2769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8C6B67-252A-9B05-BA2B-F01FF6162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4813759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A380E-84D9-F788-6A73-9D1DD6B99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586A5B0-8A85-19DD-F9CA-82300326BA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37BDEC-75F9-CB24-29D7-E500E6267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D33DB7-FB9C-E12E-AE2F-E1B95F3B3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599357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62BFB85-9CFF-877B-8735-4AE8F3B37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30C2A67-62F1-F841-C032-AA63DC5859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0D9003-E31B-12CA-F17A-1682D5A1E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385916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92C7F-3A80-9D82-622F-DA4D0406C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0FE68-F5CF-F225-015B-C787829C6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D1DFB4-18F0-123F-BD4F-852FA88F4D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701974-56BC-A32B-47E5-2543BE7E8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569B21-7936-1DC2-5FE9-4DFD5ED7B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09424D-C568-5D85-8800-A225CFC18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771081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75019-3E43-FFB0-73D3-2B619D0DE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5108F8-A48E-605F-8255-6955CF025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H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85B4B2-C03C-ACA1-1128-AB4999A9B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7BE7D2-F3FB-F1B2-1F4B-498710B56E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ED35A6-6E0F-4118-3A33-6C262C056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C5EC44-0599-B8AA-7363-E26F1884E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8679394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99272-A83A-8E12-8708-4FD5C2A54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C65213-E76C-E2A1-9622-68DED4AA10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8535DE-8F87-FDD2-D015-C7DC7A994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1AEC8A-705E-AC4B-649F-E96633C4C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959DA4-820B-1A5E-C1A2-562D34F89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241742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4C37BDC-4965-799E-681C-F513D0F20F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1FE604-3013-6FF3-9059-9DAE5AC001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0DC707-827B-2CC8-0082-1DEDE37DC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0858E9-F213-DAA0-7F68-438599F035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A7CE3-F6AC-FE62-6CC9-17AFEBA64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0017162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6D22B15-E8AC-20C2-B670-31FE696E8C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H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77DD7-1B4D-D979-08ED-F3E302407D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H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7F805-3480-6FEE-8C14-EC8951CC3A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9A69C3-06C6-4ABB-B8A0-8EFC5B14A64C}" type="datetimeFigureOut">
              <a:rPr lang="en-HK" smtClean="0"/>
              <a:t>19/5/2025</a:t>
            </a:fld>
            <a:endParaRPr lang="en-H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E4EBF-0A39-F5A1-5A60-EC8D2829B3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H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BD2912-6EB3-0207-8F9A-06E9D438D3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F6E9B1-877C-411B-87E3-717BA5B5A813}" type="slidenum">
              <a:rPr lang="en-HK" smtClean="0"/>
              <a:t>‹#›</a:t>
            </a:fld>
            <a:endParaRPr lang="en-HK"/>
          </a:p>
        </p:txBody>
      </p:sp>
    </p:spTree>
    <p:extLst>
      <p:ext uri="{BB962C8B-B14F-4D97-AF65-F5344CB8AC3E}">
        <p14:creationId xmlns:p14="http://schemas.microsoft.com/office/powerpoint/2010/main" val="15652688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Japanese Sakura | Posters, Impressions artistiques, Décoration murale">
            <a:extLst>
              <a:ext uri="{FF2B5EF4-FFF2-40B4-BE49-F238E27FC236}">
                <a16:creationId xmlns:a16="http://schemas.microsoft.com/office/drawing/2014/main" id="{5AD4C835-A8B1-F83D-CAB6-28A9B9D018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3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8C40F25-2C67-13EF-3C4F-DB8181C465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PALEOCLIMATOLOGIE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162E2-F2C2-FE4B-48B0-4A5B3F9B9CA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ARTISHOW 2024-2025</a:t>
            </a:r>
          </a:p>
          <a:p>
            <a:r>
              <a:rPr lang="fr-FR" dirty="0">
                <a:highlight>
                  <a:srgbClr val="FFFF00"/>
                </a:highlight>
              </a:rPr>
              <a:t>Léo Ribière, Adrien Roy, Maxime Saffon, Gaspard Vibert</a:t>
            </a:r>
            <a:endParaRPr lang="en-HK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4021005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9254D-F997-2146-BD42-13DD06EA4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Le but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366459-477C-514A-CB9A-4A1F0A1B66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Objectif initial : Reconstruire la température moyenne du mois de mars du japon dès 1000 dernières années grâce aux données suivantes :</a:t>
            </a:r>
          </a:p>
          <a:p>
            <a:endParaRPr lang="fr-FR" dirty="0"/>
          </a:p>
        </p:txBody>
      </p:sp>
      <p:pic>
        <p:nvPicPr>
          <p:cNvPr id="2050" name="Picture 2" descr="JCDP">
            <a:extLst>
              <a:ext uri="{FF2B5EF4-FFF2-40B4-BE49-F238E27FC236}">
                <a16:creationId xmlns:a16="http://schemas.microsoft.com/office/drawing/2014/main" id="{7B69FE09-DF04-2C26-1B5E-8102521995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650742"/>
            <a:ext cx="3880052" cy="252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he Best Spots to See Cherry Blossoms in Kyoto - GaijinPot Travel">
            <a:extLst>
              <a:ext uri="{FF2B5EF4-FFF2-40B4-BE49-F238E27FC236}">
                <a16:creationId xmlns:a16="http://schemas.microsoft.com/office/drawing/2014/main" id="{66E1CDDA-7082-832F-D6C8-64C79C604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3976" y="3659331"/>
            <a:ext cx="3716235" cy="2526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46BB43-091E-81E8-3AB8-ECCB06A1E2D5}"/>
              </a:ext>
            </a:extLst>
          </p:cNvPr>
          <p:cNvSpPr txBox="1"/>
          <p:nvPr/>
        </p:nvSpPr>
        <p:spPr>
          <a:xfrm>
            <a:off x="6873140" y="3233454"/>
            <a:ext cx="4480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La floraison des cerisiers </a:t>
            </a:r>
            <a:endParaRPr lang="en-HK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A2D826-5B7A-8631-3ADA-3AA2CB06CDEA}"/>
              </a:ext>
            </a:extLst>
          </p:cNvPr>
          <p:cNvSpPr txBox="1"/>
          <p:nvPr/>
        </p:nvSpPr>
        <p:spPr>
          <a:xfrm>
            <a:off x="1222228" y="3214054"/>
            <a:ext cx="44806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dirty="0"/>
              <a:t>L’</a:t>
            </a:r>
            <a:r>
              <a:rPr lang="fr-FR" sz="2000" dirty="0" err="1"/>
              <a:t>omiwatari</a:t>
            </a:r>
            <a:r>
              <a:rPr lang="fr-FR" sz="2000" dirty="0"/>
              <a:t> du lac de </a:t>
            </a:r>
            <a:r>
              <a:rPr lang="fr-FR" sz="2000" dirty="0" err="1"/>
              <a:t>Suwa</a:t>
            </a:r>
            <a:endParaRPr lang="en-HK" sz="2000" dirty="0"/>
          </a:p>
        </p:txBody>
      </p:sp>
    </p:spTree>
    <p:extLst>
      <p:ext uri="{BB962C8B-B14F-4D97-AF65-F5344CB8AC3E}">
        <p14:creationId xmlns:p14="http://schemas.microsoft.com/office/powerpoint/2010/main" val="24533537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F1587F-5FAA-A38A-A848-D6D2E77F4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7EBBF6E-6056-3C8E-34DE-30703C92ABBC}"/>
              </a:ext>
            </a:extLst>
          </p:cNvPr>
          <p:cNvSpPr/>
          <p:nvPr/>
        </p:nvSpPr>
        <p:spPr>
          <a:xfrm>
            <a:off x="8441436" y="2511552"/>
            <a:ext cx="1562100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BCE930D-2F14-FDB6-B8B2-8B2ED3284335}"/>
              </a:ext>
            </a:extLst>
          </p:cNvPr>
          <p:cNvSpPr/>
          <p:nvPr/>
        </p:nvSpPr>
        <p:spPr>
          <a:xfrm>
            <a:off x="1517142" y="2511552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CB3F7F2-5EFA-E83F-8EA3-F8BE1B496D17}"/>
              </a:ext>
            </a:extLst>
          </p:cNvPr>
          <p:cNvSpPr/>
          <p:nvPr/>
        </p:nvSpPr>
        <p:spPr>
          <a:xfrm>
            <a:off x="4979289" y="2511552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pic>
        <p:nvPicPr>
          <p:cNvPr id="3074" name="Picture 2" descr="France flag icon PNG 22111773 PNG">
            <a:extLst>
              <a:ext uri="{FF2B5EF4-FFF2-40B4-BE49-F238E27FC236}">
                <a16:creationId xmlns:a16="http://schemas.microsoft.com/office/drawing/2014/main" id="{EA466917-58F5-1936-E442-1412D3820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88464" y="1773936"/>
            <a:ext cx="1434941" cy="119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0D1543E3-0AAD-3341-661B-7D3918AC0A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5534" y="1566434"/>
            <a:ext cx="1612868" cy="161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8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E0F59CA3-FD52-9A5E-E968-F08DBE381D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21601" y="1646236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0FA3701-20D2-52DA-DCE0-5D9A07E59FE4}"/>
              </a:ext>
            </a:extLst>
          </p:cNvPr>
          <p:cNvSpPr txBox="1"/>
          <p:nvPr/>
        </p:nvSpPr>
        <p:spPr>
          <a:xfrm>
            <a:off x="838200" y="4473100"/>
            <a:ext cx="8395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 Reconstruction de trois climats dans trois localisations géographiques différentes</a:t>
            </a:r>
            <a:endParaRPr lang="en-HK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DC4443-11E2-632D-5C00-4EC9F8B0C88B}"/>
              </a:ext>
            </a:extLst>
          </p:cNvPr>
          <p:cNvSpPr txBox="1"/>
          <p:nvPr/>
        </p:nvSpPr>
        <p:spPr>
          <a:xfrm>
            <a:off x="838200" y="4842432"/>
            <a:ext cx="10651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- Recherche de tendances locales, à comparer avec les tendances macroscopiques de l’hémisphère nord</a:t>
            </a:r>
            <a:endParaRPr lang="en-HK" dirty="0"/>
          </a:p>
        </p:txBody>
      </p:sp>
    </p:spTree>
    <p:extLst>
      <p:ext uri="{BB962C8B-B14F-4D97-AF65-F5344CB8AC3E}">
        <p14:creationId xmlns:p14="http://schemas.microsoft.com/office/powerpoint/2010/main" val="63675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D75AF-9630-95CF-28B8-8362620F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415A3-4F0D-BE40-8F42-3DC1DA7F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8ED02DB-8DD6-EE98-CC31-9DB10EF0ABB3}"/>
              </a:ext>
            </a:extLst>
          </p:cNvPr>
          <p:cNvSpPr/>
          <p:nvPr/>
        </p:nvSpPr>
        <p:spPr>
          <a:xfrm>
            <a:off x="4979289" y="2996184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pic>
        <p:nvPicPr>
          <p:cNvPr id="3086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D3E861E3-BA95-1219-775F-DF0A5B1B92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0203" y="2189750"/>
            <a:ext cx="1612868" cy="161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7FEB9E1-B6F6-C4B2-0959-00F691CB226A}"/>
              </a:ext>
            </a:extLst>
          </p:cNvPr>
          <p:cNvCxnSpPr>
            <a:cxnSpLocks/>
            <a:stCxn id="8" idx="2"/>
            <a:endCxn id="19" idx="3"/>
          </p:cNvCxnSpPr>
          <p:nvPr/>
        </p:nvCxnSpPr>
        <p:spPr>
          <a:xfrm flipH="1">
            <a:off x="3703320" y="3738372"/>
            <a:ext cx="1275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7EE643C-26C2-CB18-AA11-450892508061}"/>
              </a:ext>
            </a:extLst>
          </p:cNvPr>
          <p:cNvCxnSpPr>
            <a:cxnSpLocks/>
            <a:stCxn id="8" idx="6"/>
            <a:endCxn id="22" idx="1"/>
          </p:cNvCxnSpPr>
          <p:nvPr/>
        </p:nvCxnSpPr>
        <p:spPr>
          <a:xfrm flipV="1">
            <a:off x="6468237" y="3738371"/>
            <a:ext cx="12759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D838B755-B03C-BD9D-1CF8-6F21B5276832}"/>
              </a:ext>
            </a:extLst>
          </p:cNvPr>
          <p:cNvCxnSpPr>
            <a:cxnSpLocks/>
            <a:stCxn id="8" idx="4"/>
            <a:endCxn id="25" idx="0"/>
          </p:cNvCxnSpPr>
          <p:nvPr/>
        </p:nvCxnSpPr>
        <p:spPr>
          <a:xfrm>
            <a:off x="5723763" y="4480560"/>
            <a:ext cx="0" cy="9263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162B436-FEAC-2A8A-3255-DDF0D8EE669A}"/>
              </a:ext>
            </a:extLst>
          </p:cNvPr>
          <p:cNvSpPr txBox="1"/>
          <p:nvPr/>
        </p:nvSpPr>
        <p:spPr>
          <a:xfrm>
            <a:off x="1063984" y="341520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La floraison des cerisiers à Kyoto</a:t>
            </a:r>
            <a:endParaRPr lang="en-HK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5EF5E0-8B62-B901-8F16-2EEC0C9D5D90}"/>
              </a:ext>
            </a:extLst>
          </p:cNvPr>
          <p:cNvSpPr txBox="1"/>
          <p:nvPr/>
        </p:nvSpPr>
        <p:spPr>
          <a:xfrm>
            <a:off x="7744206" y="3415205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L’</a:t>
            </a:r>
            <a:r>
              <a:rPr lang="fr-FR" b="1" dirty="0" err="1"/>
              <a:t>omiwatari</a:t>
            </a:r>
            <a:r>
              <a:rPr lang="fr-FR" b="1" dirty="0"/>
              <a:t> du lac de </a:t>
            </a:r>
            <a:r>
              <a:rPr lang="fr-FR" b="1" dirty="0" err="1"/>
              <a:t>Suwa</a:t>
            </a:r>
            <a:endParaRPr lang="en-HK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B14F9-CE97-2350-A3A4-60FB97F708B9}"/>
              </a:ext>
            </a:extLst>
          </p:cNvPr>
          <p:cNvSpPr txBox="1"/>
          <p:nvPr/>
        </p:nvSpPr>
        <p:spPr>
          <a:xfrm>
            <a:off x="4404095" y="540686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Dendrochronologie à Suwa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38C35E-06EE-14E2-9F29-C029CAAC7DCF}"/>
              </a:ext>
            </a:extLst>
          </p:cNvPr>
          <p:cNvSpPr txBox="1"/>
          <p:nvPr/>
        </p:nvSpPr>
        <p:spPr>
          <a:xfrm>
            <a:off x="1063984" y="1667604"/>
            <a:ext cx="7523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du mois de mars du Japon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05E8D63-0343-C993-1FC8-9ECA90331C6C}"/>
              </a:ext>
            </a:extLst>
          </p:cNvPr>
          <p:cNvSpPr txBox="1"/>
          <p:nvPr/>
        </p:nvSpPr>
        <p:spPr>
          <a:xfrm>
            <a:off x="2736389" y="4111228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Maxime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0BC63DC-7A94-E6C3-DD9F-3F083467192E}"/>
              </a:ext>
            </a:extLst>
          </p:cNvPr>
          <p:cNvSpPr txBox="1"/>
          <p:nvPr/>
        </p:nvSpPr>
        <p:spPr>
          <a:xfrm>
            <a:off x="9834417" y="4061536"/>
            <a:ext cx="5491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Léo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746ADEB-4AC1-E1DB-D97E-E542DCD12150}"/>
              </a:ext>
            </a:extLst>
          </p:cNvPr>
          <p:cNvSpPr txBox="1"/>
          <p:nvPr/>
        </p:nvSpPr>
        <p:spPr>
          <a:xfrm>
            <a:off x="6096000" y="6053197"/>
            <a:ext cx="1040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Gaspard</a:t>
            </a:r>
            <a:endParaRPr lang="en-HK" dirty="0">
              <a:solidFill>
                <a:srgbClr val="FF0000"/>
              </a:solidFill>
            </a:endParaRPr>
          </a:p>
        </p:txBody>
      </p:sp>
      <p:pic>
        <p:nvPicPr>
          <p:cNvPr id="5124" name="Picture 4" descr="La préfecture de Kyoto | Nippon.com – Infos sur le Japon">
            <a:extLst>
              <a:ext uri="{FF2B5EF4-FFF2-40B4-BE49-F238E27FC236}">
                <a16:creationId xmlns:a16="http://schemas.microsoft.com/office/drawing/2014/main" id="{8F30F3CF-4512-BF30-6698-B61B98AC02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87710" y="139913"/>
            <a:ext cx="3182690" cy="305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036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F70E7-26EC-3B07-0903-A28B3D171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53982-5139-0928-8A5E-5A20ACD25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A225DFD-2B60-8671-173F-03ABFFC5824E}"/>
              </a:ext>
            </a:extLst>
          </p:cNvPr>
          <p:cNvCxnSpPr>
            <a:cxnSpLocks/>
            <a:endCxn id="19" idx="3"/>
          </p:cNvCxnSpPr>
          <p:nvPr/>
        </p:nvCxnSpPr>
        <p:spPr>
          <a:xfrm flipH="1">
            <a:off x="3703320" y="3738372"/>
            <a:ext cx="127596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244255B-039B-7933-6782-29511D617D35}"/>
              </a:ext>
            </a:extLst>
          </p:cNvPr>
          <p:cNvCxnSpPr>
            <a:cxnSpLocks/>
            <a:stCxn id="3" idx="6"/>
            <a:endCxn id="22" idx="1"/>
          </p:cNvCxnSpPr>
          <p:nvPr/>
        </p:nvCxnSpPr>
        <p:spPr>
          <a:xfrm>
            <a:off x="6463662" y="3729749"/>
            <a:ext cx="1271394" cy="862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E9D3D73-1C83-7481-B3CB-69397375B213}"/>
              </a:ext>
            </a:extLst>
          </p:cNvPr>
          <p:cNvSpPr txBox="1"/>
          <p:nvPr/>
        </p:nvSpPr>
        <p:spPr>
          <a:xfrm>
            <a:off x="1063984" y="3415206"/>
            <a:ext cx="263933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Date des vendages à </a:t>
            </a:r>
            <a:r>
              <a:rPr lang="fr-FR" b="1" dirty="0" err="1"/>
              <a:t>Beaunes</a:t>
            </a:r>
            <a:endParaRPr lang="en-HK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A58BD2-8907-561A-3C79-4BE72FBE38DE}"/>
              </a:ext>
            </a:extLst>
          </p:cNvPr>
          <p:cNvSpPr txBox="1"/>
          <p:nvPr/>
        </p:nvSpPr>
        <p:spPr>
          <a:xfrm>
            <a:off x="7735056" y="3553705"/>
            <a:ext cx="2639336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C93A5E-9EA5-A1EA-C589-F1E28C785F76}"/>
              </a:ext>
            </a:extLst>
          </p:cNvPr>
          <p:cNvSpPr txBox="1"/>
          <p:nvPr/>
        </p:nvSpPr>
        <p:spPr>
          <a:xfrm>
            <a:off x="1063984" y="1667604"/>
            <a:ext cx="706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annuelle de la France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C96ECE-4B2E-A94A-D9C8-937A780402CF}"/>
              </a:ext>
            </a:extLst>
          </p:cNvPr>
          <p:cNvSpPr txBox="1"/>
          <p:nvPr/>
        </p:nvSpPr>
        <p:spPr>
          <a:xfrm>
            <a:off x="2872643" y="4058987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Adrien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35BB4A0-3FF7-3D7A-0181-D399D57F936E}"/>
              </a:ext>
            </a:extLst>
          </p:cNvPr>
          <p:cNvSpPr txBox="1"/>
          <p:nvPr/>
        </p:nvSpPr>
        <p:spPr>
          <a:xfrm>
            <a:off x="9543715" y="3950990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Adrien</a:t>
            </a:r>
            <a:endParaRPr lang="en-HK" dirty="0">
              <a:solidFill>
                <a:srgbClr val="FF0000"/>
              </a:solidFill>
            </a:endParaRP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5C74D765-C0B4-07A2-4CEE-12B57404ADBC}"/>
              </a:ext>
            </a:extLst>
          </p:cNvPr>
          <p:cNvSpPr/>
          <p:nvPr/>
        </p:nvSpPr>
        <p:spPr>
          <a:xfrm>
            <a:off x="4974714" y="2987561"/>
            <a:ext cx="1488948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pic>
        <p:nvPicPr>
          <p:cNvPr id="5" name="Picture 2" descr="France flag icon PNG 22111773 PNG">
            <a:extLst>
              <a:ext uri="{FF2B5EF4-FFF2-40B4-BE49-F238E27FC236}">
                <a16:creationId xmlns:a16="http://schemas.microsoft.com/office/drawing/2014/main" id="{4C8C500F-49F4-C547-20DE-F49C88E95E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6036" y="2249945"/>
            <a:ext cx="1434941" cy="119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Beaune: Toutes les informations sur la commune">
            <a:extLst>
              <a:ext uri="{FF2B5EF4-FFF2-40B4-BE49-F238E27FC236}">
                <a16:creationId xmlns:a16="http://schemas.microsoft.com/office/drawing/2014/main" id="{E1ED8DF5-5819-2961-8A57-F0F910539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68428" y="164739"/>
            <a:ext cx="3194029" cy="31395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89469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C6FAA9-0BFA-802E-26D8-280CAC962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4642A-8847-7D7F-24A7-8D4B854ED3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Évolution de notre projet</a:t>
            </a:r>
            <a:endParaRPr lang="en-HK" dirty="0">
              <a:highlight>
                <a:srgbClr val="FFFF00"/>
              </a:highlight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ED145FB-F96A-B196-C580-01C2AC685931}"/>
              </a:ext>
            </a:extLst>
          </p:cNvPr>
          <p:cNvCxnSpPr>
            <a:cxnSpLocks/>
            <a:stCxn id="6" idx="4"/>
            <a:endCxn id="19" idx="0"/>
          </p:cNvCxnSpPr>
          <p:nvPr/>
        </p:nvCxnSpPr>
        <p:spPr>
          <a:xfrm>
            <a:off x="5719188" y="4612627"/>
            <a:ext cx="249785" cy="8113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D493E4B-B362-7D5F-D9F1-083390481493}"/>
              </a:ext>
            </a:extLst>
          </p:cNvPr>
          <p:cNvSpPr txBox="1"/>
          <p:nvPr/>
        </p:nvSpPr>
        <p:spPr>
          <a:xfrm>
            <a:off x="4403671" y="5423993"/>
            <a:ext cx="31306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Gel de la rivière </a:t>
            </a:r>
            <a:r>
              <a:rPr lang="fr-FR" b="1" dirty="0" err="1"/>
              <a:t>Tornionjoki</a:t>
            </a:r>
            <a:endParaRPr lang="en-HK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E0859C9-81A5-C22B-DF77-0D2B32EC2E1A}"/>
              </a:ext>
            </a:extLst>
          </p:cNvPr>
          <p:cNvSpPr txBox="1"/>
          <p:nvPr/>
        </p:nvSpPr>
        <p:spPr>
          <a:xfrm>
            <a:off x="1063984" y="1667604"/>
            <a:ext cx="7890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highlight>
                  <a:srgbClr val="FFFF00"/>
                </a:highlight>
              </a:rPr>
              <a:t>Objectif :</a:t>
            </a:r>
            <a:r>
              <a:rPr lang="fr-FR" dirty="0"/>
              <a:t> Reconstruire la température moyenne du mois de mai de la Finlande</a:t>
            </a:r>
            <a:endParaRPr lang="en-HK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34F10B-0DD1-99E0-6F06-80952CE8A8F2}"/>
              </a:ext>
            </a:extLst>
          </p:cNvPr>
          <p:cNvSpPr txBox="1"/>
          <p:nvPr/>
        </p:nvSpPr>
        <p:spPr>
          <a:xfrm>
            <a:off x="6443867" y="5793325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</a:rPr>
              <a:t>Maxime</a:t>
            </a:r>
            <a:endParaRPr lang="en-HK" dirty="0">
              <a:solidFill>
                <a:srgbClr val="FF0000"/>
              </a:solidFill>
            </a:endParaRPr>
          </a:p>
        </p:txBody>
      </p:sp>
      <p:pic>
        <p:nvPicPr>
          <p:cNvPr id="7170" name="Picture 2" descr="Scénario détaillé Carte de Finlande et capitale Helsinki Image Vectorielle  Stock - Alamy">
            <a:extLst>
              <a:ext uri="{FF2B5EF4-FFF2-40B4-BE49-F238E27FC236}">
                <a16:creationId xmlns:a16="http://schemas.microsoft.com/office/drawing/2014/main" id="{A7E68580-C088-210C-51FB-81724F8F57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4432"/>
          <a:stretch/>
        </p:blipFill>
        <p:spPr bwMode="auto">
          <a:xfrm>
            <a:off x="9235439" y="299132"/>
            <a:ext cx="1256947" cy="2914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3FC26BF-6992-1FC2-0A9A-DF7C8CB75A12}"/>
              </a:ext>
            </a:extLst>
          </p:cNvPr>
          <p:cNvSpPr/>
          <p:nvPr/>
        </p:nvSpPr>
        <p:spPr>
          <a:xfrm>
            <a:off x="4938138" y="3128251"/>
            <a:ext cx="1562100" cy="148437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pic>
        <p:nvPicPr>
          <p:cNvPr id="7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35F59290-BD72-BD90-CED2-DFAA80567B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18303" y="2262935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023891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E9DF09-6088-B6AD-4190-0E08A6277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Notre organisation de travail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16891F8-35F1-F448-529C-0E3B81B96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8314" y="1825625"/>
            <a:ext cx="10035372" cy="4351338"/>
          </a:xfrm>
        </p:spPr>
      </p:pic>
    </p:spTree>
    <p:extLst>
      <p:ext uri="{BB962C8B-B14F-4D97-AF65-F5344CB8AC3E}">
        <p14:creationId xmlns:p14="http://schemas.microsoft.com/office/powerpoint/2010/main" val="25322284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CD2E1-0E4C-953B-C4AF-3532A22AA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620AB-07DF-E83E-DFAC-B9FDA19B7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86A84-4006-F9E2-C043-E285C30F8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Trouver un maximum de data sur chaque pays</a:t>
            </a:r>
            <a:endParaRPr lang="en-HK" dirty="0"/>
          </a:p>
        </p:txBody>
      </p:sp>
      <p:pic>
        <p:nvPicPr>
          <p:cNvPr id="4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B37B5002-5A96-F60B-25A9-5D010A8A2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1646" y="0"/>
            <a:ext cx="2450354" cy="24503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EBBD65-A4C8-0728-27E7-A7FD4E138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327" y="2670887"/>
            <a:ext cx="4982217" cy="20217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218" name="Picture 2" descr="Sanctuaire de Suwa Taisha | Travel Japan, Office national du tourisme  japonais">
            <a:extLst>
              <a:ext uri="{FF2B5EF4-FFF2-40B4-BE49-F238E27FC236}">
                <a16:creationId xmlns:a16="http://schemas.microsoft.com/office/drawing/2014/main" id="{517B0429-2A18-AE97-6FAE-66E5A98E20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2034" y="2450354"/>
            <a:ext cx="2669648" cy="1681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AutoShape 6" descr="Ensemble Model Prediction / TCC">
            <a:extLst>
              <a:ext uri="{FF2B5EF4-FFF2-40B4-BE49-F238E27FC236}">
                <a16:creationId xmlns:a16="http://schemas.microsoft.com/office/drawing/2014/main" id="{F6BB362D-E7B6-642C-C7B8-BCD3296777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HK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557DB6-AD33-796F-1A68-B39DEAF73A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8222" y="4471106"/>
            <a:ext cx="3183099" cy="2021769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224" name="Picture 8" descr="EMODnet Platformpage">
            <a:extLst>
              <a:ext uri="{FF2B5EF4-FFF2-40B4-BE49-F238E27FC236}">
                <a16:creationId xmlns:a16="http://schemas.microsoft.com/office/drawing/2014/main" id="{FCA9B2C9-2A50-34A7-114C-981C7A535C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755" b="30912"/>
          <a:stretch/>
        </p:blipFill>
        <p:spPr bwMode="auto">
          <a:xfrm>
            <a:off x="3177921" y="4756506"/>
            <a:ext cx="3257550" cy="12161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0EE95C1-E5C5-99E9-2F79-E7225DB24507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74875"/>
          <a:stretch/>
        </p:blipFill>
        <p:spPr>
          <a:xfrm>
            <a:off x="7693320" y="2957465"/>
            <a:ext cx="4096652" cy="2900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8962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67597-FEB0-0900-3F89-183449566F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0EBF1-6D94-3425-84AD-0E2430668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89CE5-32C3-08A3-34ED-128AE3FFCD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Trouvé un maximum de data sur chaque pays</a:t>
            </a:r>
            <a:endParaRPr lang="en-HK" dirty="0"/>
          </a:p>
        </p:txBody>
      </p:sp>
      <p:sp>
        <p:nvSpPr>
          <p:cNvPr id="9" name="AutoShape 6" descr="Ensemble Model Prediction / TCC">
            <a:extLst>
              <a:ext uri="{FF2B5EF4-FFF2-40B4-BE49-F238E27FC236}">
                <a16:creationId xmlns:a16="http://schemas.microsoft.com/office/drawing/2014/main" id="{2127D8AC-7A04-F735-3DF0-70D07A9BF1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HK"/>
          </a:p>
        </p:txBody>
      </p:sp>
      <p:pic>
        <p:nvPicPr>
          <p:cNvPr id="5" name="Picture 2" descr="France flag icon PNG 22111773 PNG">
            <a:extLst>
              <a:ext uri="{FF2B5EF4-FFF2-40B4-BE49-F238E27FC236}">
                <a16:creationId xmlns:a16="http://schemas.microsoft.com/office/drawing/2014/main" id="{5BB940B5-1EE9-DE05-7F47-4D19ECFD7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8268" y="365125"/>
            <a:ext cx="2228897" cy="186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3AFDD0B-0728-D26C-E98F-37BC5E227A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7003" y="2869167"/>
            <a:ext cx="4467317" cy="3533087"/>
          </a:xfrm>
          <a:prstGeom prst="rect">
            <a:avLst/>
          </a:prstGeom>
        </p:spPr>
      </p:pic>
      <p:pic>
        <p:nvPicPr>
          <p:cNvPr id="1028" name="Picture 4" descr="Histoire du climat depuis l'an Mil | Emmanuel Le Roy Ladurie - Librairie  KOEGUI">
            <a:extLst>
              <a:ext uri="{FF2B5EF4-FFF2-40B4-BE49-F238E27FC236}">
                <a16:creationId xmlns:a16="http://schemas.microsoft.com/office/drawing/2014/main" id="{F637F614-F401-8D82-3007-C77FC7EFC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2570" y="2747963"/>
            <a:ext cx="324008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435210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7A944-AD5E-1826-AFA3-DB2ACA047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Première étape : État de l’art (~1 mois)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E2CAA9-7EBB-E4AE-61CE-B883B9652F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481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fr-FR" dirty="0">
                <a:highlight>
                  <a:srgbClr val="FFFF00"/>
                </a:highlight>
              </a:rPr>
              <a:t>Objectif</a:t>
            </a:r>
            <a:r>
              <a:rPr lang="fr-FR" dirty="0"/>
              <a:t> : Trouver un maximum de data sur chaque pays</a:t>
            </a:r>
            <a:endParaRPr lang="en-HK" dirty="0"/>
          </a:p>
        </p:txBody>
      </p:sp>
      <p:pic>
        <p:nvPicPr>
          <p:cNvPr id="6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1DF87895-B587-5F6F-D27D-610E9C9D0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412" y="365125"/>
            <a:ext cx="2247917" cy="2247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63C9FCB-3B3C-4E79-5B0B-73C9276509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634" y="2869167"/>
            <a:ext cx="5820587" cy="28483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98914C90-199B-42DD-46FE-4243644AB5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339" y="2488934"/>
            <a:ext cx="3490109" cy="3822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4729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73932-C9D5-9E8F-5755-C1F2B32B1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Bibliographie des papiers de recherche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5E4BB5-E8CD-FF95-B90E-7095023C6D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0000"/>
          <a:stretch/>
        </p:blipFill>
        <p:spPr>
          <a:xfrm>
            <a:off x="463267" y="2103120"/>
            <a:ext cx="4991887" cy="36383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C92B79-B2DF-AA55-8A05-BAB317CADC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0000"/>
          <a:stretch/>
        </p:blipFill>
        <p:spPr>
          <a:xfrm>
            <a:off x="6272784" y="2070639"/>
            <a:ext cx="5081016" cy="3703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195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844D8-6274-905C-9F0C-FC699DB4E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4" name="Picture 2" descr="France flag icon PNG 22111773 PNG">
            <a:extLst>
              <a:ext uri="{FF2B5EF4-FFF2-40B4-BE49-F238E27FC236}">
                <a16:creationId xmlns:a16="http://schemas.microsoft.com/office/drawing/2014/main" id="{4371D5D2-AC61-A401-0120-510523E94E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3364" y="365125"/>
            <a:ext cx="2228897" cy="18606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C1660CD-1800-3136-DE05-ED3ECB78A0B4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FRANCE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B6AD522-0369-1F7C-6480-F374FC518878}"/>
              </a:ext>
            </a:extLst>
          </p:cNvPr>
          <p:cNvSpPr/>
          <p:nvPr/>
        </p:nvSpPr>
        <p:spPr>
          <a:xfrm>
            <a:off x="1630681" y="3197352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Dates des vendages à Beaune</a:t>
            </a:r>
            <a:endParaRPr lang="en-HK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36209C6-892B-DEA9-7431-4AF80EF90F52}"/>
              </a:ext>
            </a:extLst>
          </p:cNvPr>
          <p:cNvSpPr/>
          <p:nvPr/>
        </p:nvSpPr>
        <p:spPr>
          <a:xfrm>
            <a:off x="8016240" y="3197352"/>
            <a:ext cx="2404109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82AFAC-75F1-72AD-AD6C-427074D9DCB5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4117087" y="1218439"/>
            <a:ext cx="765048" cy="319277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395AC642-445F-0AC9-DAA1-E7BDC5F2C39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274623" y="1253680"/>
            <a:ext cx="765048" cy="312229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3E2F8CA-0A4B-3456-F039-BB33284AAD46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2903221" y="4111752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F582806-CD46-416C-272D-DF0379E61267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 flipH="1">
            <a:off x="9218294" y="4111752"/>
            <a:ext cx="1" cy="615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C2F41B90-2A76-4329-54A6-9DCEE8E05E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67663" y="4877092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49CA04A6-E78F-DA50-A21C-27143BC88B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82736" y="4727448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171ED30-D73D-D260-1AF5-2959A7BF614A}"/>
              </a:ext>
            </a:extLst>
          </p:cNvPr>
          <p:cNvSpPr txBox="1"/>
          <p:nvPr/>
        </p:nvSpPr>
        <p:spPr>
          <a:xfrm>
            <a:off x="1523" y="6192793"/>
            <a:ext cx="6094476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buNone/>
            </a:pPr>
            <a:r>
              <a:rPr lang="fr-FR" sz="1100" b="0" i="0" dirty="0">
                <a:solidFill>
                  <a:srgbClr val="000000"/>
                </a:solidFill>
                <a:effectLst/>
              </a:rPr>
              <a:t>Réseau de neurones: </a:t>
            </a:r>
            <a:endParaRPr lang="fr-FR" sz="1100" dirty="0">
              <a:effectLst/>
            </a:endParaRPr>
          </a:p>
          <a:p>
            <a:pPr algn="l" rtl="0">
              <a:buNone/>
            </a:pPr>
            <a:r>
              <a:rPr lang="fr-FR" sz="1100" b="0" i="0" dirty="0">
                <a:solidFill>
                  <a:srgbClr val="000000"/>
                </a:solidFill>
                <a:effectLst/>
              </a:rPr>
              <a:t>Calcul du RMSE et choix du meilleur réseau (Batch size, Nbr Couches, Nbr </a:t>
            </a:r>
            <a:r>
              <a:rPr lang="fr-FR" sz="1100" b="0" i="0" dirty="0" err="1">
                <a:solidFill>
                  <a:srgbClr val="000000"/>
                </a:solidFill>
                <a:effectLst/>
              </a:rPr>
              <a:t>Neuronnes</a:t>
            </a:r>
            <a:r>
              <a:rPr lang="fr-FR" sz="1100" b="0" i="0" dirty="0">
                <a:solidFill>
                  <a:srgbClr val="000000"/>
                </a:solidFill>
                <a:effectLst/>
              </a:rPr>
              <a:t>/couches).</a:t>
            </a:r>
            <a:endParaRPr lang="fr-FR" sz="1100" dirty="0">
              <a:effectLst/>
            </a:endParaRPr>
          </a:p>
          <a:p>
            <a:pPr algn="l" rtl="0"/>
            <a:r>
              <a:rPr lang="fr-FR" sz="1100" b="0" i="0" dirty="0">
                <a:solidFill>
                  <a:srgbClr val="000000"/>
                </a:solidFill>
                <a:effectLst/>
              </a:rPr>
              <a:t>Entrainement meilleur réseaux 1850-2024, prédiction 1355-2024</a:t>
            </a:r>
            <a:endParaRPr lang="fr-FR" sz="11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5001299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EDE580-1C1C-089E-4FF2-E10D56481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Choix du Réseau de neurones: Entrainement: 1876 - 2024, Prédiction + Calcul RMSE 1850-1875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CE59BBCF-86C7-C2C1-504D-15026B7DC7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3504" y="2670048"/>
            <a:ext cx="7836408" cy="20665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HK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B364638-AC4E-95A1-7966-6EE789D8574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19"/>
          <a:stretch/>
        </p:blipFill>
        <p:spPr>
          <a:xfrm>
            <a:off x="1330238" y="1792224"/>
            <a:ext cx="4360406" cy="46223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A722CAE-7B01-B4A5-22A1-67EA14769B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480" y="1792224"/>
            <a:ext cx="4343282" cy="4622340"/>
          </a:xfrm>
          <a:prstGeom prst="rect">
            <a:avLst/>
          </a:prstGeom>
        </p:spPr>
      </p:pic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F6A032E-4DEC-F339-F298-2FE72A430BFF}"/>
              </a:ext>
            </a:extLst>
          </p:cNvPr>
          <p:cNvSpPr/>
          <p:nvPr/>
        </p:nvSpPr>
        <p:spPr>
          <a:xfrm>
            <a:off x="4832022" y="1615274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Dates des vendages à Beaune</a:t>
            </a:r>
            <a:endParaRPr lang="en-HK" b="1" dirty="0"/>
          </a:p>
        </p:txBody>
      </p:sp>
      <p:pic>
        <p:nvPicPr>
          <p:cNvPr id="14" name="Picture 2" descr="France flag icon PNG 22111773 PNG">
            <a:extLst>
              <a:ext uri="{FF2B5EF4-FFF2-40B4-BE49-F238E27FC236}">
                <a16:creationId xmlns:a16="http://schemas.microsoft.com/office/drawing/2014/main" id="{A0BDF883-505F-02EC-DB6E-58C3005342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59125" y="-30646"/>
            <a:ext cx="1275160" cy="10644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24389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258C9-D68B-2AB9-FBD9-5CDEBB591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Choix final (6,6,6) RMSE de 0.447 degrés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15D7D5-B386-D1A0-99CA-4BFC69F6CF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958" y="2249408"/>
            <a:ext cx="9974067" cy="2962688"/>
          </a:xfrm>
          <a:prstGeom prst="rect">
            <a:avLst/>
          </a:prstGeom>
        </p:spPr>
      </p:pic>
      <p:pic>
        <p:nvPicPr>
          <p:cNvPr id="6" name="Picture 2" descr="France flag icon PNG 22111773 PNG">
            <a:extLst>
              <a:ext uri="{FF2B5EF4-FFF2-40B4-BE49-F238E27FC236}">
                <a16:creationId xmlns:a16="http://schemas.microsoft.com/office/drawing/2014/main" id="{BA906383-D6FE-19CD-287C-5831DCAC35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6647" y="140153"/>
            <a:ext cx="1461374" cy="12199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72251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676A1-38A0-E1B9-9335-10EA9D399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Entrainement meilleur réseaux 1850-2024, prédiction 1355-2024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0423B6B-1FBA-2383-E34D-CF5EBE797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520" y="1657121"/>
            <a:ext cx="10274959" cy="4835754"/>
          </a:xfrm>
          <a:prstGeom prst="rect">
            <a:avLst/>
          </a:prstGeom>
        </p:spPr>
      </p:pic>
      <p:pic>
        <p:nvPicPr>
          <p:cNvPr id="6" name="Picture 2" descr="France flag icon PNG 22111773 PNG">
            <a:extLst>
              <a:ext uri="{FF2B5EF4-FFF2-40B4-BE49-F238E27FC236}">
                <a16:creationId xmlns:a16="http://schemas.microsoft.com/office/drawing/2014/main" id="{7C2B6867-8230-6FDD-8A80-21D700EE40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97167" y="210312"/>
            <a:ext cx="1110854" cy="927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41148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68B19-E0C1-DA63-31B4-130F796A0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i="0" dirty="0">
                <a:solidFill>
                  <a:srgbClr val="000000"/>
                </a:solidFill>
                <a:effectLst/>
                <a:highlight>
                  <a:srgbClr val="FFFF00"/>
                </a:highlight>
              </a:rPr>
              <a:t>Interprétation historique des données :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87CBEF-D72F-8F88-27C9-7F2F8BA312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b="1" i="0" dirty="0">
                <a:solidFill>
                  <a:srgbClr val="000000"/>
                </a:solidFill>
                <a:effectLst/>
              </a:rPr>
              <a:t>1434-1435, 1442-1443</a:t>
            </a:r>
            <a:r>
              <a:rPr lang="fr-FR" b="0" i="0" dirty="0">
                <a:solidFill>
                  <a:srgbClr val="000000"/>
                </a:solidFill>
                <a:effectLst/>
              </a:rPr>
              <a:t>: Hivers remarquablement froids et longs </a:t>
            </a:r>
            <a:endParaRPr lang="fr-FR" dirty="0">
              <a:effectLst/>
            </a:endParaRPr>
          </a:p>
          <a:p>
            <a:endParaRPr lang="fr-FR" b="1" i="0" dirty="0">
              <a:solidFill>
                <a:srgbClr val="000000"/>
              </a:solidFill>
              <a:effectLst/>
            </a:endParaRPr>
          </a:p>
          <a:p>
            <a:r>
              <a:rPr lang="fr-FR" b="1" i="0" dirty="0">
                <a:solidFill>
                  <a:srgbClr val="000000"/>
                </a:solidFill>
                <a:effectLst/>
              </a:rPr>
              <a:t>Grand hiver de 1709: </a:t>
            </a:r>
            <a:r>
              <a:rPr lang="fr-FR" b="0" i="0" dirty="0">
                <a:solidFill>
                  <a:srgbClr val="000000"/>
                </a:solidFill>
                <a:effectLst/>
              </a:rPr>
              <a:t>Grande </a:t>
            </a:r>
            <a:r>
              <a:rPr lang="fr-FR" b="0" i="0" dirty="0" err="1">
                <a:solidFill>
                  <a:srgbClr val="000000"/>
                </a:solidFill>
                <a:effectLst/>
              </a:rPr>
              <a:t>periode</a:t>
            </a:r>
            <a:r>
              <a:rPr lang="fr-FR" b="0" i="0" dirty="0">
                <a:solidFill>
                  <a:srgbClr val="000000"/>
                </a:solidFill>
                <a:effectLst/>
              </a:rPr>
              <a:t> de famine, 600 000 morts ! </a:t>
            </a:r>
            <a:endParaRPr lang="fr-FR" dirty="0">
              <a:effectLst/>
            </a:endParaRPr>
          </a:p>
          <a:p>
            <a:pPr algn="l" rtl="0"/>
            <a:endParaRPr lang="fr-FR" b="1" i="0" dirty="0">
              <a:solidFill>
                <a:srgbClr val="000000"/>
              </a:solidFill>
              <a:effectLst/>
            </a:endParaRPr>
          </a:p>
          <a:p>
            <a:pPr algn="l" rtl="0"/>
            <a:r>
              <a:rPr lang="fr-FR" b="1" i="0" dirty="0">
                <a:solidFill>
                  <a:srgbClr val="000000"/>
                </a:solidFill>
                <a:effectLst/>
              </a:rPr>
              <a:t>A faire: </a:t>
            </a:r>
            <a:r>
              <a:rPr lang="fr-FR" b="0" i="0" dirty="0">
                <a:solidFill>
                  <a:srgbClr val="000000"/>
                </a:solidFill>
                <a:effectLst/>
              </a:rPr>
              <a:t>Etudier la pente depuis 1975. </a:t>
            </a:r>
            <a:endParaRPr lang="fr-FR" dirty="0">
              <a:effectLst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B928FD-78BA-CF00-DD53-08F4738B1365}"/>
              </a:ext>
            </a:extLst>
          </p:cNvPr>
          <p:cNvSpPr txBox="1"/>
          <p:nvPr/>
        </p:nvSpPr>
        <p:spPr>
          <a:xfrm>
            <a:off x="548640" y="5089286"/>
            <a:ext cx="10881360" cy="383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625"/>
              </a:lnSpc>
              <a:buNone/>
            </a:pPr>
            <a:r>
              <a:rPr lang="fr-FR" sz="1200" b="0" i="0" dirty="0">
                <a:solidFill>
                  <a:srgbClr val="000000"/>
                </a:solidFill>
                <a:effectLst/>
                <a:latin typeface="YAFdJjTk5UU 0"/>
              </a:rPr>
              <a:t>Source: http://asso.villejust.free.fr/meteo/Les-grands-hivers.html , " Recueil de données statistiques relatives à la climatologie de la France "</a:t>
            </a:r>
            <a:r>
              <a:rPr lang="fr-FR" sz="1200" dirty="0">
                <a:solidFill>
                  <a:srgbClr val="000000"/>
                </a:solidFill>
                <a:latin typeface="YAFdJjTk5UU 0"/>
              </a:rPr>
              <a:t> </a:t>
            </a:r>
            <a:r>
              <a:rPr lang="fr-FR" sz="1200" b="0" i="0" dirty="0">
                <a:solidFill>
                  <a:srgbClr val="000000"/>
                </a:solidFill>
                <a:effectLst/>
                <a:latin typeface="YAFdJjTk5UU 0"/>
              </a:rPr>
              <a:t>de J. Sanson, 1945. </a:t>
            </a:r>
            <a:endParaRPr lang="fr-FR" sz="1200" dirty="0">
              <a:solidFill>
                <a:srgbClr val="000000"/>
              </a:solidFill>
              <a:effectLst/>
              <a:latin typeface="YAFdJjTk5UU 0"/>
            </a:endParaRPr>
          </a:p>
        </p:txBody>
      </p:sp>
      <p:pic>
        <p:nvPicPr>
          <p:cNvPr id="8" name="Picture 2" descr="France flag icon PNG 22111773 PNG">
            <a:extLst>
              <a:ext uri="{FF2B5EF4-FFF2-40B4-BE49-F238E27FC236}">
                <a16:creationId xmlns:a16="http://schemas.microsoft.com/office/drawing/2014/main" id="{313A5114-CB9E-8374-081B-B999D1CE89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85619" y="168556"/>
            <a:ext cx="1006381" cy="840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59399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0C189-C0F0-9385-0EFA-17ABF657A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1CF1C0-1B1A-39FF-C906-DEE62CCDF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CA7545E-14E5-CCF8-F128-B80AAC851A57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JAPON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4395FF87-F0C2-A196-6B91-0BFFC5998D93}"/>
              </a:ext>
            </a:extLst>
          </p:cNvPr>
          <p:cNvSpPr/>
          <p:nvPr/>
        </p:nvSpPr>
        <p:spPr>
          <a:xfrm>
            <a:off x="505969" y="3197352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D40D543-E223-EDD0-05E9-E39A9F05C503}"/>
              </a:ext>
            </a:extLst>
          </p:cNvPr>
          <p:cNvSpPr/>
          <p:nvPr/>
        </p:nvSpPr>
        <p:spPr>
          <a:xfrm>
            <a:off x="8641080" y="3197352"/>
            <a:ext cx="287464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5ADB4F5-35A3-7225-C6B4-8CF1555B9DA0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 rot="5400000">
            <a:off x="3554731" y="656083"/>
            <a:ext cx="765048" cy="431749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23CA2241-EBA0-2854-5321-A6DEEE6D9A33}"/>
              </a:ext>
            </a:extLst>
          </p:cNvPr>
          <p:cNvCxnSpPr>
            <a:cxnSpLocks/>
            <a:stCxn id="12" idx="2"/>
            <a:endCxn id="14" idx="0"/>
          </p:cNvCxnSpPr>
          <p:nvPr/>
        </p:nvCxnSpPr>
        <p:spPr>
          <a:xfrm rot="16200000" flipH="1">
            <a:off x="7704677" y="823627"/>
            <a:ext cx="765048" cy="398240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15B7287-DBEB-F633-634C-482C730074CD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1778509" y="4111752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FE2ACEF-1713-EB4D-53C0-5D6E355B8990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 flipH="1">
            <a:off x="10078401" y="4111752"/>
            <a:ext cx="1" cy="6156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DED81AF8-4B8A-7154-5D58-2E515D8A95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951" y="4877092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1DC82B36-9A42-8BC6-9C5D-8837CB0787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42843" y="4727448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DF567E13-0861-94D2-1DC8-8A92B8294DFE}"/>
              </a:ext>
            </a:extLst>
          </p:cNvPr>
          <p:cNvSpPr/>
          <p:nvPr/>
        </p:nvSpPr>
        <p:spPr>
          <a:xfrm>
            <a:off x="5295137" y="3212592"/>
            <a:ext cx="1601723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OMIWATARI </a:t>
            </a:r>
            <a:endParaRPr lang="en-HK" b="1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3CCB23B-C2AE-63F1-7D27-A42E8E93EDDB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 flipH="1">
            <a:off x="6095999" y="2432304"/>
            <a:ext cx="1" cy="7802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BFF9B4F-8968-DF7A-09AA-F4CF6483CCDA}"/>
              </a:ext>
            </a:extLst>
          </p:cNvPr>
          <p:cNvCxnSpPr>
            <a:cxnSpLocks/>
            <a:stCxn id="13" idx="2"/>
            <a:endCxn id="26" idx="0"/>
          </p:cNvCxnSpPr>
          <p:nvPr/>
        </p:nvCxnSpPr>
        <p:spPr>
          <a:xfrm>
            <a:off x="1778509" y="4111752"/>
            <a:ext cx="2592360" cy="160758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9117DE9-F679-3EA9-F4F0-DBA9AA6ED0C8}"/>
              </a:ext>
            </a:extLst>
          </p:cNvPr>
          <p:cNvSpPr txBox="1"/>
          <p:nvPr/>
        </p:nvSpPr>
        <p:spPr>
          <a:xfrm>
            <a:off x="3104208" y="5719340"/>
            <a:ext cx="2533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MODÈLE D’ARRHENIUS</a:t>
            </a:r>
            <a:endParaRPr lang="en-HK" dirty="0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C8E4A2A-0303-BD25-B7DB-CFCA9F4D0C04}"/>
              </a:ext>
            </a:extLst>
          </p:cNvPr>
          <p:cNvCxnSpPr>
            <a:cxnSpLocks/>
            <a:stCxn id="13" idx="2"/>
            <a:endCxn id="35" idx="0"/>
          </p:cNvCxnSpPr>
          <p:nvPr/>
        </p:nvCxnSpPr>
        <p:spPr>
          <a:xfrm>
            <a:off x="1778509" y="4111752"/>
            <a:ext cx="3002073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423FE02B-A5F0-A25F-5BF6-8577A89BC397}"/>
              </a:ext>
            </a:extLst>
          </p:cNvPr>
          <p:cNvSpPr txBox="1"/>
          <p:nvPr/>
        </p:nvSpPr>
        <p:spPr>
          <a:xfrm>
            <a:off x="3666334" y="4864608"/>
            <a:ext cx="22284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UN MODÈLE SIMPLE</a:t>
            </a:r>
            <a:endParaRPr lang="en-HK" dirty="0"/>
          </a:p>
        </p:txBody>
      </p:sp>
      <p:pic>
        <p:nvPicPr>
          <p:cNvPr id="41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ECD303DF-7991-0543-ED81-3D7E19D0A3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2819" y="3221989"/>
            <a:ext cx="1320547" cy="880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272E87-3EB1-E2FD-A627-0158285D60DB}"/>
              </a:ext>
            </a:extLst>
          </p:cNvPr>
          <p:cNvCxnSpPr>
            <a:cxnSpLocks/>
            <a:stCxn id="3" idx="1"/>
            <a:endCxn id="13" idx="3"/>
          </p:cNvCxnSpPr>
          <p:nvPr/>
        </p:nvCxnSpPr>
        <p:spPr>
          <a:xfrm flipH="1" flipV="1">
            <a:off x="3051049" y="3654552"/>
            <a:ext cx="2244088" cy="152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2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610B5563-F20A-DCB2-478B-476870882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7696" y="24003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58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2AB5D3-EEC6-7D78-6C38-1BC5B37E4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d’Arrhenius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DF5235-0225-26F3-C266-5C52F8D5FE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69371"/>
            <a:ext cx="8799949" cy="4578456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7A6732CE-396C-AE0B-2665-A41F50CAFB7F}"/>
              </a:ext>
            </a:extLst>
          </p:cNvPr>
          <p:cNvSpPr/>
          <p:nvPr/>
        </p:nvSpPr>
        <p:spPr>
          <a:xfrm>
            <a:off x="4351425" y="3429000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18F4AEF-35C0-A285-FB5D-40FB9D3D5986}"/>
              </a:ext>
            </a:extLst>
          </p:cNvPr>
          <p:cNvSpPr/>
          <p:nvPr/>
        </p:nvSpPr>
        <p:spPr>
          <a:xfrm>
            <a:off x="6994787" y="4690870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ABE369EF-ACAB-A80B-44AD-721FCA32229C}"/>
              </a:ext>
            </a:extLst>
          </p:cNvPr>
          <p:cNvSpPr/>
          <p:nvPr/>
        </p:nvSpPr>
        <p:spPr>
          <a:xfrm>
            <a:off x="9618330" y="1819179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  <p:pic>
        <p:nvPicPr>
          <p:cNvPr id="8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C8EC6E76-715C-5FD1-5989-98588AA185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806375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305061-95DE-40C8-3A98-0695B5C30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simple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D05BF9-E35A-6905-C314-EF6612F00B34}"/>
              </a:ext>
            </a:extLst>
          </p:cNvPr>
          <p:cNvSpPr txBox="1"/>
          <p:nvPr/>
        </p:nvSpPr>
        <p:spPr>
          <a:xfrm>
            <a:off x="905256" y="1792224"/>
            <a:ext cx="7793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 = f(d) 			Avec d = date des floraisons des cerisiers à Kyoto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2161D3-328E-719D-9864-9B5388D1651A}"/>
              </a:ext>
            </a:extLst>
          </p:cNvPr>
          <p:cNvSpPr txBox="1"/>
          <p:nvPr/>
        </p:nvSpPr>
        <p:spPr>
          <a:xfrm>
            <a:off x="905256" y="2263092"/>
            <a:ext cx="8837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T = f(x) = a / (b + x) + c	Avec entrainement pour déterminer trois constantes : </a:t>
            </a:r>
            <a:r>
              <a:rPr lang="fr-FR" dirty="0" err="1"/>
              <a:t>a,b,c</a:t>
            </a:r>
            <a:r>
              <a:rPr lang="fr-FR" dirty="0"/>
              <a:t> </a:t>
            </a:r>
            <a:endParaRPr lang="en-H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0C508F1-30EB-016B-F3F8-1AB4C5D4A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5820" y="2788503"/>
            <a:ext cx="7886727" cy="3704372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7C5B862C-6CF9-76EA-521E-AA8BE973D7EF}"/>
              </a:ext>
            </a:extLst>
          </p:cNvPr>
          <p:cNvSpPr/>
          <p:nvPr/>
        </p:nvSpPr>
        <p:spPr>
          <a:xfrm>
            <a:off x="1855820" y="2828138"/>
            <a:ext cx="1435608" cy="1456955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HK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51715-B1A4-281E-3367-660356F6ED14}"/>
              </a:ext>
            </a:extLst>
          </p:cNvPr>
          <p:cNvSpPr txBox="1"/>
          <p:nvPr/>
        </p:nvSpPr>
        <p:spPr>
          <a:xfrm>
            <a:off x="2718482" y="3429000"/>
            <a:ext cx="1145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highlight>
                  <a:srgbClr val="FFFF00"/>
                </a:highlight>
              </a:rPr>
              <a:t>Problème</a:t>
            </a:r>
            <a:endParaRPr lang="en-HK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F04913C4-C26A-BF3F-A14C-FA2DFC4285EB}"/>
              </a:ext>
            </a:extLst>
          </p:cNvPr>
          <p:cNvSpPr/>
          <p:nvPr/>
        </p:nvSpPr>
        <p:spPr>
          <a:xfrm>
            <a:off x="9646920" y="1792224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  <p:pic>
        <p:nvPicPr>
          <p:cNvPr id="13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24F124C3-6E05-EE90-5EEB-BC236C0CEC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28946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FD8B2-258B-1DCE-03A1-8747E2E8A4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Réseau de neurones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8CD79E08-3CB6-73F0-07BD-C7C448506B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6216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8C00221-2DED-D50B-F904-172E7DF9F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4" y="1870761"/>
            <a:ext cx="9628468" cy="4729062"/>
          </a:xfrm>
          <a:prstGeom prst="rect">
            <a:avLst/>
          </a:prstGeom>
        </p:spPr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ED999839-EC8C-5222-07CA-56655267C68D}"/>
              </a:ext>
            </a:extLst>
          </p:cNvPr>
          <p:cNvSpPr/>
          <p:nvPr/>
        </p:nvSpPr>
        <p:spPr>
          <a:xfrm>
            <a:off x="9638149" y="1706977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DATE DE FLORAISON DES CERISIER DE KYOTO</a:t>
            </a:r>
            <a:endParaRPr lang="en-HK" b="1" dirty="0"/>
          </a:p>
        </p:txBody>
      </p:sp>
    </p:spTree>
    <p:extLst>
      <p:ext uri="{BB962C8B-B14F-4D97-AF65-F5344CB8AC3E}">
        <p14:creationId xmlns:p14="http://schemas.microsoft.com/office/powerpoint/2010/main" val="405741572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170AF-AF1A-9FD7-BBD2-699466FE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Réseau de neurones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AC7FF3-31F2-D607-00E0-17A533CFCA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538" y="2941043"/>
            <a:ext cx="10469436" cy="2591162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10771DD-D28F-8B9E-D675-146B83E7DE63}"/>
              </a:ext>
            </a:extLst>
          </p:cNvPr>
          <p:cNvSpPr/>
          <p:nvPr/>
        </p:nvSpPr>
        <p:spPr>
          <a:xfrm>
            <a:off x="9200384" y="1706977"/>
            <a:ext cx="2391541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Dendrochronologie</a:t>
            </a:r>
            <a:endParaRPr lang="en-HK" b="1" dirty="0"/>
          </a:p>
        </p:txBody>
      </p:sp>
      <p:pic>
        <p:nvPicPr>
          <p:cNvPr id="7" name="Picture 14" descr="Japan Flag, Japan, Flag, Japan Flag Shinning PNG and Vector with  Transparent Background for Free Download">
            <a:extLst>
              <a:ext uri="{FF2B5EF4-FFF2-40B4-BE49-F238E27FC236}">
                <a16:creationId xmlns:a16="http://schemas.microsoft.com/office/drawing/2014/main" id="{F77DC291-851F-9145-12ED-F6FFAC49CD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0810" y="93062"/>
            <a:ext cx="2071115" cy="20711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01523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BCA71E-FA7D-C806-605D-536ECF529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91340C-2073-895E-46CE-CC308FB129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Nos modèles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8CEEA3E-5EF1-BF3B-7227-BB183750564B}"/>
              </a:ext>
            </a:extLst>
          </p:cNvPr>
          <p:cNvSpPr/>
          <p:nvPr/>
        </p:nvSpPr>
        <p:spPr>
          <a:xfrm>
            <a:off x="5219700" y="1517904"/>
            <a:ext cx="17526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FINLANDE</a:t>
            </a:r>
            <a:endParaRPr lang="en-HK" b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09CCA82-A5C1-9447-1A8B-431E2C3E09A4}"/>
              </a:ext>
            </a:extLst>
          </p:cNvPr>
          <p:cNvSpPr/>
          <p:nvPr/>
        </p:nvSpPr>
        <p:spPr>
          <a:xfrm>
            <a:off x="4823460" y="3127883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GEL DE LA RIVIERE TORNIONJOKI</a:t>
            </a:r>
            <a:endParaRPr lang="en-HK" b="1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7B9421-6A48-C967-FA41-BB2968A31545}"/>
              </a:ext>
            </a:extLst>
          </p:cNvPr>
          <p:cNvCxnSpPr>
            <a:cxnSpLocks/>
            <a:stCxn id="13" idx="2"/>
            <a:endCxn id="11266" idx="0"/>
          </p:cNvCxnSpPr>
          <p:nvPr/>
        </p:nvCxnSpPr>
        <p:spPr>
          <a:xfrm>
            <a:off x="6096000" y="4042283"/>
            <a:ext cx="0" cy="7528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266" name="Picture 2" descr="Réseau de neurones artificiels : réseaux neuronaux pour l'IA">
            <a:extLst>
              <a:ext uri="{FF2B5EF4-FFF2-40B4-BE49-F238E27FC236}">
                <a16:creationId xmlns:a16="http://schemas.microsoft.com/office/drawing/2014/main" id="{3D364602-B495-652F-DD55-7604CD834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0442" y="4795139"/>
            <a:ext cx="2071116" cy="1380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9D9C5CB-B712-01A7-04D6-A83858E85BA1}"/>
              </a:ext>
            </a:extLst>
          </p:cNvPr>
          <p:cNvCxnSpPr>
            <a:cxnSpLocks/>
            <a:stCxn id="12" idx="2"/>
            <a:endCxn id="13" idx="0"/>
          </p:cNvCxnSpPr>
          <p:nvPr/>
        </p:nvCxnSpPr>
        <p:spPr>
          <a:xfrm>
            <a:off x="6096000" y="2432304"/>
            <a:ext cx="0" cy="695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1546DAF3-4ABA-98D8-590B-FE6B5B08D1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516" y="365124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3902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EAA7E-51E9-BC34-7A8D-4BF4081D1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Modèle simple</a:t>
            </a:r>
            <a:endParaRPr lang="en-HK" dirty="0">
              <a:highlight>
                <a:srgbClr val="FFFF00"/>
              </a:highlight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ABCE34-9D6E-2981-A930-A297A0E0C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86" y="2091711"/>
            <a:ext cx="6011114" cy="44011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096C81B-480E-6A7A-AF73-3FB030E0AD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091711"/>
            <a:ext cx="5801535" cy="44202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B52137-DA26-5166-97DD-62FB5CF152EB}"/>
              </a:ext>
            </a:extLst>
          </p:cNvPr>
          <p:cNvSpPr txBox="1"/>
          <p:nvPr/>
        </p:nvSpPr>
        <p:spPr>
          <a:xfrm>
            <a:off x="3383280" y="3354896"/>
            <a:ext cx="5142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FF0000"/>
                </a:solidFill>
                <a:highlight>
                  <a:srgbClr val="FFFF00"/>
                </a:highlight>
              </a:rPr>
              <a:t>Problème : Pas assez de data pour l’entraînement.</a:t>
            </a:r>
            <a:endParaRPr lang="en-HK" dirty="0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D9D402A2-4BC8-2E5B-4697-28D5BC13BC14}"/>
              </a:ext>
            </a:extLst>
          </p:cNvPr>
          <p:cNvSpPr/>
          <p:nvPr/>
        </p:nvSpPr>
        <p:spPr>
          <a:xfrm>
            <a:off x="9285732" y="776288"/>
            <a:ext cx="254508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b="1" dirty="0"/>
              <a:t>GEL DE LA RIVIERE TORNIONJOKI</a:t>
            </a:r>
            <a:endParaRPr lang="en-HK" b="1" dirty="0"/>
          </a:p>
        </p:txBody>
      </p:sp>
      <p:pic>
        <p:nvPicPr>
          <p:cNvPr id="10" name="Picture 16" descr="Printable Country Flag of Finland - Flagpole | Vector Country Flags of the  World">
            <a:extLst>
              <a:ext uri="{FF2B5EF4-FFF2-40B4-BE49-F238E27FC236}">
                <a16:creationId xmlns:a16="http://schemas.microsoft.com/office/drawing/2014/main" id="{208EAEBA-99E5-1007-0EF7-52AC69ED17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6767" y="113506"/>
            <a:ext cx="1325564" cy="1325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74296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0F369-6D64-4E86-2C12-7AA9926EA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Corrélation entre chaque pays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AC0AB3-DADE-9438-EC73-864DA68F1F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France – Finlande </a:t>
            </a:r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France – Japon</a:t>
            </a:r>
          </a:p>
          <a:p>
            <a:endParaRPr lang="fr-FR" dirty="0">
              <a:sym typeface="Wingdings" panose="05000000000000000000" pitchFamily="2" charset="2"/>
            </a:endParaRPr>
          </a:p>
          <a:p>
            <a:endParaRPr lang="fr-FR" dirty="0">
              <a:sym typeface="Wingdings" panose="05000000000000000000" pitchFamily="2" charset="2"/>
            </a:endParaRPr>
          </a:p>
          <a:p>
            <a:r>
              <a:rPr lang="fr-FR" dirty="0">
                <a:sym typeface="Wingdings" panose="05000000000000000000" pitchFamily="2" charset="2"/>
              </a:rPr>
              <a:t>Japon - Finlande </a:t>
            </a:r>
            <a:endParaRPr lang="en-H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A791E4-7B8F-5C8A-1A4F-49872F04AE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8399" y="1931568"/>
            <a:ext cx="6313076" cy="3688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934BBF2-A23C-973C-3E90-4AB12EE43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7613" y="4855464"/>
            <a:ext cx="5670803" cy="4709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99515B-BFCA-3181-09D1-BA4EBDD195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0588" y="3381945"/>
            <a:ext cx="5937828" cy="470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0630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91973-3063-FF41-4027-7A3EBCA80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>
                <a:highlight>
                  <a:srgbClr val="FFFF00"/>
                </a:highlight>
              </a:rPr>
              <a:t>Suite du projet</a:t>
            </a:r>
            <a:endParaRPr lang="en-HK" dirty="0">
              <a:highlight>
                <a:srgbClr val="FFFF00"/>
              </a:highlight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4B5562-7C74-1172-3C1B-9885F349A5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Recherche de tendances</a:t>
            </a:r>
          </a:p>
          <a:p>
            <a:r>
              <a:rPr lang="fr-FR" dirty="0"/>
              <a:t>Recherche dans l’histoire pour expliquer les grandes tendances</a:t>
            </a:r>
          </a:p>
          <a:p>
            <a:r>
              <a:rPr lang="en-HK" dirty="0" err="1"/>
              <a:t>Amélioration</a:t>
            </a:r>
            <a:r>
              <a:rPr lang="en-HK" dirty="0"/>
              <a:t> du RMSE des </a:t>
            </a:r>
            <a:r>
              <a:rPr lang="en-HK" dirty="0" err="1"/>
              <a:t>modèles</a:t>
            </a:r>
            <a:endParaRPr lang="en-HK" dirty="0"/>
          </a:p>
          <a:p>
            <a:r>
              <a:rPr lang="en-HK" dirty="0" err="1"/>
              <a:t>Trouver</a:t>
            </a:r>
            <a:r>
              <a:rPr lang="en-HK" dirty="0"/>
              <a:t> plus de data</a:t>
            </a:r>
          </a:p>
        </p:txBody>
      </p:sp>
      <p:pic>
        <p:nvPicPr>
          <p:cNvPr id="14342" name="Picture 6" descr="Planète : le changement climatique observé | Météo-France">
            <a:extLst>
              <a:ext uri="{FF2B5EF4-FFF2-40B4-BE49-F238E27FC236}">
                <a16:creationId xmlns:a16="http://schemas.microsoft.com/office/drawing/2014/main" id="{5BF06CF9-F7A5-8491-B8F7-B00FF30EFB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00" y="3805301"/>
            <a:ext cx="7620000" cy="2952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52363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</TotalTime>
  <Words>543</Words>
  <Application>Microsoft Office PowerPoint</Application>
  <PresentationFormat>Widescreen</PresentationFormat>
  <Paragraphs>97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YAFdJjTk5UU 0</vt:lpstr>
      <vt:lpstr>Aptos</vt:lpstr>
      <vt:lpstr>Aptos Display</vt:lpstr>
      <vt:lpstr>Arial</vt:lpstr>
      <vt:lpstr>Wingdings</vt:lpstr>
      <vt:lpstr>Office Theme</vt:lpstr>
      <vt:lpstr>PALEOCLIMATOLOGIE</vt:lpstr>
      <vt:lpstr>Le but de notre projet</vt:lpstr>
      <vt:lpstr>Évolution de notre projet</vt:lpstr>
      <vt:lpstr>Évolution de notre projet</vt:lpstr>
      <vt:lpstr>Évolution de notre projet</vt:lpstr>
      <vt:lpstr>Évolution de notre projet</vt:lpstr>
      <vt:lpstr>Notre organisation de travail</vt:lpstr>
      <vt:lpstr>Première étape : État de l’art (~1 mois)</vt:lpstr>
      <vt:lpstr>Première étape : État de l’art (~1 mois)</vt:lpstr>
      <vt:lpstr>Première étape : État de l’art (~1 mois)</vt:lpstr>
      <vt:lpstr>Bibliographie des papiers de recherche</vt:lpstr>
      <vt:lpstr>Nos modèles</vt:lpstr>
      <vt:lpstr>Choix du Réseau de neurones: Entrainement: 1876 - 2024, Prédiction + Calcul RMSE 1850-1875</vt:lpstr>
      <vt:lpstr>Choix final (6,6,6) RMSE de 0.447 degrés</vt:lpstr>
      <vt:lpstr>Entrainement meilleur réseaux 1850-2024, prédiction 1355-2024</vt:lpstr>
      <vt:lpstr>Interprétation historique des données :</vt:lpstr>
      <vt:lpstr>Nos modèles</vt:lpstr>
      <vt:lpstr>Modèle d’Arrhenius</vt:lpstr>
      <vt:lpstr>Modèle simple</vt:lpstr>
      <vt:lpstr>Réseau de neurones</vt:lpstr>
      <vt:lpstr>Réseau de neurones</vt:lpstr>
      <vt:lpstr>Nos modèles</vt:lpstr>
      <vt:lpstr>Modèle simple</vt:lpstr>
      <vt:lpstr>Corrélation entre chaque pays</vt:lpstr>
      <vt:lpstr>Suite du projet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Maxime Saffon</dc:creator>
  <cp:lastModifiedBy>Maxime Saffon</cp:lastModifiedBy>
  <cp:revision>21</cp:revision>
  <dcterms:created xsi:type="dcterms:W3CDTF">2025-05-18T21:38:44Z</dcterms:created>
  <dcterms:modified xsi:type="dcterms:W3CDTF">2025-05-19T10:21:29Z</dcterms:modified>
</cp:coreProperties>
</file>