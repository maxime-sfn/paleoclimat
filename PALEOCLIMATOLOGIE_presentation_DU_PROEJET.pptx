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5" r:id="rId7"/>
    <p:sldId id="283" r:id="rId8"/>
    <p:sldId id="266" r:id="rId9"/>
    <p:sldId id="267" r:id="rId10"/>
    <p:sldId id="260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4" r:id="rId19"/>
    <p:sldId id="276" r:id="rId20"/>
    <p:sldId id="277" r:id="rId21"/>
    <p:sldId id="278" r:id="rId22"/>
    <p:sldId id="279" r:id="rId23"/>
    <p:sldId id="280" r:id="rId24"/>
    <p:sldId id="282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AF4C-7FBA-E4BF-B005-461D0964D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091AF-84E4-A87B-71E0-46EAFA880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B228F-D496-D719-8CF9-D497EE52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33A02-140A-EA14-54FD-3689D9450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34C6A-FA6A-535E-0B5D-8751C7A6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7020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5322-F98B-D0C7-B4DD-A037DB9A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2620-D51E-E3A4-B985-DF936010B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8061C-94B2-66FD-0F3D-5C7576F9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755C7-4DCF-F10F-787C-E1852C47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8E935-B836-DAD3-872E-DB7D35EC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7471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B6D5-D1A0-E726-D1F9-FD0E7E64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57C2F-0041-C1AE-A2BF-BC6913976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36F7E-AC52-6063-DBB7-109F0DDB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EE35F-5D15-98A5-5C48-577FE86A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A6C3F-5783-87D3-A1F8-BCA00500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2744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4242-0EBD-873B-A4A8-82C7FBC3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FD06-A231-FFF7-91C4-28E9D894E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7CDF6-0346-6B34-B6B4-416FCD646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F560E-62CC-73A8-240A-4CEC1C1F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3534E-D398-E545-8E07-74CED609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986CF-7D40-FCB1-9350-795EDF42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2960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3758-526C-BC08-7589-CB24D17A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54D20-49AB-1DC2-E7A4-B5C9A815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26756-AC16-C506-D9C3-0A4BB7205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D54DA-7B70-D1DB-3897-45272698E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87E38-5058-9147-00E8-2D84CD7A1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956CC3-7D12-CA10-1B4C-4EA514AD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EFFCE-6C4F-A9ED-3669-ABE1BC27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C6B67-252A-9B05-BA2B-F01FF616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8137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380E-84D9-F788-6A73-9D1DD6B9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6A5B0-8A85-19DD-F9CA-82300326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7BDEC-75F9-CB24-29D7-E500E626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33DB7-FB9C-E12E-AE2F-E1B95F3B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9935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BFB85-9CFF-877B-8735-4AE8F3B3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C2A67-62F1-F841-C032-AA63DC58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D9003-E31B-12CA-F17A-1682D5A1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591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2C7F-3A80-9D82-622F-DA4D0406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FE68-F5CF-F225-015B-C787829C6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1DFB4-18F0-123F-BD4F-852FA88F4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01974-56BC-A32B-47E5-2543BE7E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69B21-7936-1DC2-5FE9-4DFD5ED7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9424D-C568-5D85-8800-A225CFC1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7108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5019-3E43-FFB0-73D3-2B619D0D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108F8-A48E-605F-8255-6955CF025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5B4B2-C03C-ACA1-1128-AB4999A9B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BE7D2-F3FB-F1B2-1F4B-498710B5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D35A6-6E0F-4118-3A33-6C262C05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EC44-0599-B8AA-7363-E26F1884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6793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9272-A83A-8E12-8708-4FD5C2A5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65213-E76C-E2A1-9622-68DED4AA1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535DE-8F87-FDD2-D015-C7DC7A99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AEC8A-705E-AC4B-649F-E96633C4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59DA4-820B-1A5E-C1A2-562D34F8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174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37BDC-4965-799E-681C-F513D0F20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FE604-3013-6FF3-9059-9DAE5AC00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DC707-827B-2CC8-0082-1DEDE37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858E9-F213-DAA0-7F68-438599F0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A7CE3-F6AC-FE62-6CC9-17AFEBA6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0171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22B15-E8AC-20C2-B670-31FE696E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77DD7-1B4D-D979-08ED-F3E302407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7F805-3480-6FEE-8C14-EC8951CC3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A69C3-06C6-4ABB-B8A0-8EFC5B14A64C}" type="datetimeFigureOut">
              <a:rPr lang="en-HK" smtClean="0"/>
              <a:t>19/5/2025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E4EBF-0A39-F5A1-5A60-EC8D2829B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D2912-6EB3-0207-8F9A-06E9D438D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6E9B1-877C-411B-87E3-717BA5B5A813}" type="slidenum">
              <a:rPr lang="en-HK" smtClean="0"/>
              <a:t>‹N°›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6526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panese Sakura | Posters, Impressions artistiques, Décoration murale">
            <a:extLst>
              <a:ext uri="{FF2B5EF4-FFF2-40B4-BE49-F238E27FC236}">
                <a16:creationId xmlns:a16="http://schemas.microsoft.com/office/drawing/2014/main" id="{5AD4C835-A8B1-F83D-CAB6-28A9B9D01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C40F25-2C67-13EF-3C4F-DB8181C46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PALEOCLIMATOLOGIE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162E2-F2C2-FE4B-48B0-4A5B3F9B9C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ARTISHOW 2024-2025</a:t>
            </a:r>
          </a:p>
          <a:p>
            <a:r>
              <a:rPr lang="fr-FR" dirty="0">
                <a:highlight>
                  <a:srgbClr val="FFFF00"/>
                </a:highlight>
              </a:rPr>
              <a:t>Léo Ribière, Adrien Roy, Maxime Saffon, Gaspard Vibert</a:t>
            </a:r>
            <a:endParaRPr lang="en-HK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100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254D-F997-2146-BD42-13DD06EA4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Le but de notre projet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6459-477C-514A-CB9A-4A1F0A1B6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initial : Reconstruire la température moyenne du mois de mars du japon dès 1000 dernières années grâce aux données suivantes :</a:t>
            </a:r>
          </a:p>
          <a:p>
            <a:endParaRPr lang="fr-FR" dirty="0"/>
          </a:p>
        </p:txBody>
      </p:sp>
      <p:pic>
        <p:nvPicPr>
          <p:cNvPr id="2050" name="Picture 2" descr="JCDP">
            <a:extLst>
              <a:ext uri="{FF2B5EF4-FFF2-40B4-BE49-F238E27FC236}">
                <a16:creationId xmlns:a16="http://schemas.microsoft.com/office/drawing/2014/main" id="{7B69FE09-DF04-2C26-1B5E-810252199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0742"/>
            <a:ext cx="3880052" cy="252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Best Spots to See Cherry Blossoms in Kyoto - GaijinPot Travel">
            <a:extLst>
              <a:ext uri="{FF2B5EF4-FFF2-40B4-BE49-F238E27FC236}">
                <a16:creationId xmlns:a16="http://schemas.microsoft.com/office/drawing/2014/main" id="{66E1CDDA-7082-832F-D6C8-64C79C604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976" y="3659331"/>
            <a:ext cx="3716235" cy="252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6BB43-091E-81E8-3AB8-ECCB06A1E2D5}"/>
              </a:ext>
            </a:extLst>
          </p:cNvPr>
          <p:cNvSpPr txBox="1"/>
          <p:nvPr/>
        </p:nvSpPr>
        <p:spPr>
          <a:xfrm>
            <a:off x="6873140" y="3233454"/>
            <a:ext cx="4480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La floraison des cerisiers </a:t>
            </a:r>
            <a:endParaRPr lang="en-H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2D826-5B7A-8631-3ADA-3AA2CB06CDEA}"/>
              </a:ext>
            </a:extLst>
          </p:cNvPr>
          <p:cNvSpPr txBox="1"/>
          <p:nvPr/>
        </p:nvSpPr>
        <p:spPr>
          <a:xfrm>
            <a:off x="1222228" y="3214054"/>
            <a:ext cx="4480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L’</a:t>
            </a:r>
            <a:r>
              <a:rPr lang="fr-FR" sz="2000" dirty="0" err="1"/>
              <a:t>omiwatari</a:t>
            </a:r>
            <a:r>
              <a:rPr lang="fr-FR" sz="2000" dirty="0"/>
              <a:t> du lac de </a:t>
            </a:r>
            <a:r>
              <a:rPr lang="fr-FR" sz="2000" dirty="0" err="1"/>
              <a:t>Suwa</a:t>
            </a:r>
            <a:endParaRPr lang="en-HK" sz="2000" dirty="0"/>
          </a:p>
        </p:txBody>
      </p:sp>
    </p:spTree>
    <p:extLst>
      <p:ext uri="{BB962C8B-B14F-4D97-AF65-F5344CB8AC3E}">
        <p14:creationId xmlns:p14="http://schemas.microsoft.com/office/powerpoint/2010/main" val="245335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587F-5FAA-A38A-A848-D6D2E77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Évolution de notre projet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EBBF6E-6056-3C8E-34DE-30703C92ABBC}"/>
              </a:ext>
            </a:extLst>
          </p:cNvPr>
          <p:cNvSpPr/>
          <p:nvPr/>
        </p:nvSpPr>
        <p:spPr>
          <a:xfrm>
            <a:off x="8441436" y="2511552"/>
            <a:ext cx="1562100" cy="14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Finlande</a:t>
            </a:r>
            <a:endParaRPr lang="en-HK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CE930D-2F14-FDB6-B8B2-8B2ED3284335}"/>
              </a:ext>
            </a:extLst>
          </p:cNvPr>
          <p:cNvSpPr/>
          <p:nvPr/>
        </p:nvSpPr>
        <p:spPr>
          <a:xfrm>
            <a:off x="1517142" y="2511552"/>
            <a:ext cx="1488948" cy="14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France</a:t>
            </a:r>
            <a:endParaRPr lang="en-HK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B3F7F2-5EFA-E83F-8EA3-F8BE1B496D17}"/>
              </a:ext>
            </a:extLst>
          </p:cNvPr>
          <p:cNvSpPr/>
          <p:nvPr/>
        </p:nvSpPr>
        <p:spPr>
          <a:xfrm>
            <a:off x="4979289" y="2511552"/>
            <a:ext cx="1488948" cy="14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Japon</a:t>
            </a:r>
            <a:endParaRPr lang="en-HK" b="1" dirty="0"/>
          </a:p>
        </p:txBody>
      </p:sp>
      <p:pic>
        <p:nvPicPr>
          <p:cNvPr id="3074" name="Picture 2" descr="France flag icon PNG 22111773 PNG">
            <a:extLst>
              <a:ext uri="{FF2B5EF4-FFF2-40B4-BE49-F238E27FC236}">
                <a16:creationId xmlns:a16="http://schemas.microsoft.com/office/drawing/2014/main" id="{EA466917-58F5-1936-E442-1412D3820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464" y="1773936"/>
            <a:ext cx="1434941" cy="119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0D1543E3-0AAD-3341-661B-7D3918AC0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34" y="1566434"/>
            <a:ext cx="1612868" cy="16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Printable Country Flag of Finland - Flagpole | Vector Country Flags of the  World">
            <a:extLst>
              <a:ext uri="{FF2B5EF4-FFF2-40B4-BE49-F238E27FC236}">
                <a16:creationId xmlns:a16="http://schemas.microsoft.com/office/drawing/2014/main" id="{E0F59CA3-FD52-9A5E-E968-F08DBE38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601" y="164623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FA3701-20D2-52DA-DCE0-5D9A07E59FE4}"/>
              </a:ext>
            </a:extLst>
          </p:cNvPr>
          <p:cNvSpPr txBox="1"/>
          <p:nvPr/>
        </p:nvSpPr>
        <p:spPr>
          <a:xfrm>
            <a:off x="838200" y="4473100"/>
            <a:ext cx="8395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Reconstruction de trois climats dans trois localisations géographiques différentes</a:t>
            </a:r>
            <a:endParaRPr lang="en-H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C4443-11E2-632D-5C00-4EC9F8B0C88B}"/>
              </a:ext>
            </a:extLst>
          </p:cNvPr>
          <p:cNvSpPr txBox="1"/>
          <p:nvPr/>
        </p:nvSpPr>
        <p:spPr>
          <a:xfrm>
            <a:off x="838200" y="4842432"/>
            <a:ext cx="1065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Recherche de tendances locales, à comparer avec les tendances macroscopiques de l’hémisphère nord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3675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75AF-9630-95CF-28B8-8362620F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15A3-4F0D-BE40-8F42-3DC1DA7F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Évolution de notre projet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ED02DB-8DD6-EE98-CC31-9DB10EF0ABB3}"/>
              </a:ext>
            </a:extLst>
          </p:cNvPr>
          <p:cNvSpPr/>
          <p:nvPr/>
        </p:nvSpPr>
        <p:spPr>
          <a:xfrm>
            <a:off x="4979289" y="2996184"/>
            <a:ext cx="1488948" cy="14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Japon</a:t>
            </a:r>
            <a:endParaRPr lang="en-HK" b="1" dirty="0"/>
          </a:p>
        </p:txBody>
      </p:sp>
      <p:pic>
        <p:nvPicPr>
          <p:cNvPr id="3086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D3E861E3-BA95-1219-775F-DF0A5B1B9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203" y="2189750"/>
            <a:ext cx="1612868" cy="16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FEB9E1-B6F6-C4B2-0959-00F691CB226A}"/>
              </a:ext>
            </a:extLst>
          </p:cNvPr>
          <p:cNvCxnSpPr>
            <a:cxnSpLocks/>
            <a:stCxn id="8" idx="2"/>
            <a:endCxn id="19" idx="3"/>
          </p:cNvCxnSpPr>
          <p:nvPr/>
        </p:nvCxnSpPr>
        <p:spPr>
          <a:xfrm flipH="1">
            <a:off x="3703320" y="3738372"/>
            <a:ext cx="1275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EE643C-26C2-CB18-AA11-450892508061}"/>
              </a:ext>
            </a:extLst>
          </p:cNvPr>
          <p:cNvCxnSpPr>
            <a:cxnSpLocks/>
            <a:stCxn id="8" idx="6"/>
            <a:endCxn id="22" idx="1"/>
          </p:cNvCxnSpPr>
          <p:nvPr/>
        </p:nvCxnSpPr>
        <p:spPr>
          <a:xfrm flipV="1">
            <a:off x="6468237" y="3738371"/>
            <a:ext cx="12759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38B755-B03C-BD9D-1CF8-6F21B5276832}"/>
              </a:ext>
            </a:extLst>
          </p:cNvPr>
          <p:cNvCxnSpPr>
            <a:cxnSpLocks/>
            <a:stCxn id="8" idx="4"/>
            <a:endCxn id="25" idx="0"/>
          </p:cNvCxnSpPr>
          <p:nvPr/>
        </p:nvCxnSpPr>
        <p:spPr>
          <a:xfrm>
            <a:off x="5723763" y="4480560"/>
            <a:ext cx="0" cy="926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162B436-FEAC-2A8A-3255-DDF0D8EE669A}"/>
              </a:ext>
            </a:extLst>
          </p:cNvPr>
          <p:cNvSpPr txBox="1"/>
          <p:nvPr/>
        </p:nvSpPr>
        <p:spPr>
          <a:xfrm>
            <a:off x="1063984" y="3415206"/>
            <a:ext cx="26393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La floraison des cerisiers à Kyoto</a:t>
            </a:r>
            <a:endParaRPr lang="en-HK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EF5E0-8B62-B901-8F16-2EEC0C9D5D90}"/>
              </a:ext>
            </a:extLst>
          </p:cNvPr>
          <p:cNvSpPr txBox="1"/>
          <p:nvPr/>
        </p:nvSpPr>
        <p:spPr>
          <a:xfrm>
            <a:off x="7744206" y="3415205"/>
            <a:ext cx="26393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L’</a:t>
            </a:r>
            <a:r>
              <a:rPr lang="fr-FR" b="1" dirty="0" err="1"/>
              <a:t>omiwatari</a:t>
            </a:r>
            <a:r>
              <a:rPr lang="fr-FR" b="1" dirty="0"/>
              <a:t> du lac de </a:t>
            </a:r>
            <a:r>
              <a:rPr lang="fr-FR" b="1" dirty="0" err="1"/>
              <a:t>Suwa</a:t>
            </a:r>
            <a:endParaRPr lang="en-HK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6B14F9-CE97-2350-A3A4-60FB97F708B9}"/>
              </a:ext>
            </a:extLst>
          </p:cNvPr>
          <p:cNvSpPr txBox="1"/>
          <p:nvPr/>
        </p:nvSpPr>
        <p:spPr>
          <a:xfrm>
            <a:off x="4404095" y="5406866"/>
            <a:ext cx="26393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Dendrochronologie à Suwa</a:t>
            </a:r>
            <a:endParaRPr lang="en-HK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38C35E-06EE-14E2-9F29-C029CAAC7DCF}"/>
              </a:ext>
            </a:extLst>
          </p:cNvPr>
          <p:cNvSpPr txBox="1"/>
          <p:nvPr/>
        </p:nvSpPr>
        <p:spPr>
          <a:xfrm>
            <a:off x="1063984" y="1667604"/>
            <a:ext cx="7523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Objectif :</a:t>
            </a:r>
            <a:r>
              <a:rPr lang="fr-FR" dirty="0"/>
              <a:t> Reconstruire la température moyenne du mois de mars du Japon</a:t>
            </a:r>
            <a:endParaRPr lang="en-H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E8D63-0343-C993-1FC8-9ECA90331C6C}"/>
              </a:ext>
            </a:extLst>
          </p:cNvPr>
          <p:cNvSpPr txBox="1"/>
          <p:nvPr/>
        </p:nvSpPr>
        <p:spPr>
          <a:xfrm>
            <a:off x="2736389" y="4111228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Maxime</a:t>
            </a:r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BC63DC-7A94-E6C3-DD9F-3F083467192E}"/>
              </a:ext>
            </a:extLst>
          </p:cNvPr>
          <p:cNvSpPr txBox="1"/>
          <p:nvPr/>
        </p:nvSpPr>
        <p:spPr>
          <a:xfrm>
            <a:off x="9834417" y="4061536"/>
            <a:ext cx="54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Léo</a:t>
            </a:r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46ADEB-4AC1-E1DB-D97E-E542DCD12150}"/>
              </a:ext>
            </a:extLst>
          </p:cNvPr>
          <p:cNvSpPr txBox="1"/>
          <p:nvPr/>
        </p:nvSpPr>
        <p:spPr>
          <a:xfrm>
            <a:off x="6096000" y="5776198"/>
            <a:ext cx="104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Gaspard</a:t>
            </a:r>
            <a:endParaRPr lang="en-HK" dirty="0">
              <a:solidFill>
                <a:srgbClr val="FF0000"/>
              </a:solidFill>
            </a:endParaRPr>
          </a:p>
        </p:txBody>
      </p:sp>
      <p:pic>
        <p:nvPicPr>
          <p:cNvPr id="5124" name="Picture 4" descr="La préfecture de Kyoto | Nippon.com – Infos sur le Japon">
            <a:extLst>
              <a:ext uri="{FF2B5EF4-FFF2-40B4-BE49-F238E27FC236}">
                <a16:creationId xmlns:a16="http://schemas.microsoft.com/office/drawing/2014/main" id="{8F30F3CF-4512-BF30-6698-B61B98AC0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710" y="139913"/>
            <a:ext cx="3182690" cy="305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3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70E7-26EC-3B07-0903-A28B3D17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3982-5139-0928-8A5E-5A20ACD2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Évolution de notre projet</a:t>
            </a:r>
            <a:endParaRPr lang="en-HK" dirty="0">
              <a:highlight>
                <a:srgbClr val="FFFF00"/>
              </a:highlight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225DFD-2B60-8671-173F-03ABFFC5824E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3703320" y="3738372"/>
            <a:ext cx="1275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44255B-039B-7933-6782-29511D617D35}"/>
              </a:ext>
            </a:extLst>
          </p:cNvPr>
          <p:cNvCxnSpPr>
            <a:cxnSpLocks/>
            <a:stCxn id="3" idx="6"/>
            <a:endCxn id="22" idx="1"/>
          </p:cNvCxnSpPr>
          <p:nvPr/>
        </p:nvCxnSpPr>
        <p:spPr>
          <a:xfrm>
            <a:off x="6463662" y="3729749"/>
            <a:ext cx="1271394" cy="8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9D3D73-1C83-7481-B3CB-69397375B213}"/>
              </a:ext>
            </a:extLst>
          </p:cNvPr>
          <p:cNvSpPr txBox="1"/>
          <p:nvPr/>
        </p:nvSpPr>
        <p:spPr>
          <a:xfrm>
            <a:off x="1063984" y="3415206"/>
            <a:ext cx="26393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Date des vendages à </a:t>
            </a:r>
            <a:r>
              <a:rPr lang="fr-FR" b="1" dirty="0" err="1"/>
              <a:t>Beaunes</a:t>
            </a:r>
            <a:endParaRPr lang="en-HK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58BD2-8907-561A-3C79-4BE72FBE38DE}"/>
              </a:ext>
            </a:extLst>
          </p:cNvPr>
          <p:cNvSpPr txBox="1"/>
          <p:nvPr/>
        </p:nvSpPr>
        <p:spPr>
          <a:xfrm>
            <a:off x="7735056" y="3553705"/>
            <a:ext cx="26393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Dendrochronologie</a:t>
            </a:r>
            <a:endParaRPr lang="en-HK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C93A5E-9EA5-A1EA-C589-F1E28C785F76}"/>
              </a:ext>
            </a:extLst>
          </p:cNvPr>
          <p:cNvSpPr txBox="1"/>
          <p:nvPr/>
        </p:nvSpPr>
        <p:spPr>
          <a:xfrm>
            <a:off x="1063984" y="1667604"/>
            <a:ext cx="706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Objectif :</a:t>
            </a:r>
            <a:r>
              <a:rPr lang="fr-FR" dirty="0"/>
              <a:t> Reconstruire la température moyenne annuelle de la France</a:t>
            </a:r>
            <a:endParaRPr lang="en-H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C96ECE-4B2E-A94A-D9C8-937A780402CF}"/>
              </a:ext>
            </a:extLst>
          </p:cNvPr>
          <p:cNvSpPr txBox="1"/>
          <p:nvPr/>
        </p:nvSpPr>
        <p:spPr>
          <a:xfrm>
            <a:off x="2872643" y="405898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Adrien</a:t>
            </a:r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5BB4A0-3FF7-3D7A-0181-D399D57F936E}"/>
              </a:ext>
            </a:extLst>
          </p:cNvPr>
          <p:cNvSpPr txBox="1"/>
          <p:nvPr/>
        </p:nvSpPr>
        <p:spPr>
          <a:xfrm>
            <a:off x="9543715" y="3950990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Adrien</a:t>
            </a:r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C74D765-C0B4-07A2-4CEE-12B57404ADBC}"/>
              </a:ext>
            </a:extLst>
          </p:cNvPr>
          <p:cNvSpPr/>
          <p:nvPr/>
        </p:nvSpPr>
        <p:spPr>
          <a:xfrm>
            <a:off x="4974714" y="2987561"/>
            <a:ext cx="1488948" cy="14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France</a:t>
            </a:r>
            <a:endParaRPr lang="en-HK" b="1" dirty="0"/>
          </a:p>
        </p:txBody>
      </p:sp>
      <p:pic>
        <p:nvPicPr>
          <p:cNvPr id="5" name="Picture 2" descr="France flag icon PNG 22111773 PNG">
            <a:extLst>
              <a:ext uri="{FF2B5EF4-FFF2-40B4-BE49-F238E27FC236}">
                <a16:creationId xmlns:a16="http://schemas.microsoft.com/office/drawing/2014/main" id="{4C8C500F-49F4-C547-20DE-F49C88E95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036" y="2249945"/>
            <a:ext cx="1434941" cy="119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Beaune: Toutes les informations sur la commune">
            <a:extLst>
              <a:ext uri="{FF2B5EF4-FFF2-40B4-BE49-F238E27FC236}">
                <a16:creationId xmlns:a16="http://schemas.microsoft.com/office/drawing/2014/main" id="{E1ED8DF5-5819-2961-8A57-F0F910539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428" y="164739"/>
            <a:ext cx="3194029" cy="313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94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FAA9-0BFA-802E-26D8-280CAC96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642A-8847-7D7F-24A7-8D4B854E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Évolution de notre projet</a:t>
            </a:r>
            <a:endParaRPr lang="en-HK" dirty="0">
              <a:highlight>
                <a:srgbClr val="FFFF00"/>
              </a:highlight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ED145FB-F96A-B196-C580-01C2AC685931}"/>
              </a:ext>
            </a:extLst>
          </p:cNvPr>
          <p:cNvCxnSpPr>
            <a:cxnSpLocks/>
            <a:stCxn id="6" idx="4"/>
            <a:endCxn id="19" idx="0"/>
          </p:cNvCxnSpPr>
          <p:nvPr/>
        </p:nvCxnSpPr>
        <p:spPr>
          <a:xfrm>
            <a:off x="5719188" y="4612627"/>
            <a:ext cx="249785" cy="811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493E4B-B362-7D5F-D9F1-083390481493}"/>
              </a:ext>
            </a:extLst>
          </p:cNvPr>
          <p:cNvSpPr txBox="1"/>
          <p:nvPr/>
        </p:nvSpPr>
        <p:spPr>
          <a:xfrm>
            <a:off x="4403671" y="5423993"/>
            <a:ext cx="31306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Gel de la rivière </a:t>
            </a:r>
            <a:r>
              <a:rPr lang="fr-FR" b="1" dirty="0" err="1"/>
              <a:t>Tornionjoki</a:t>
            </a:r>
            <a:endParaRPr lang="en-HK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0859C9-81A5-C22B-DF77-0D2B32EC2E1A}"/>
              </a:ext>
            </a:extLst>
          </p:cNvPr>
          <p:cNvSpPr txBox="1"/>
          <p:nvPr/>
        </p:nvSpPr>
        <p:spPr>
          <a:xfrm>
            <a:off x="1063984" y="1667604"/>
            <a:ext cx="789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</a:rPr>
              <a:t>Objectif :</a:t>
            </a:r>
            <a:r>
              <a:rPr lang="fr-FR" dirty="0"/>
              <a:t> Reconstruire la température moyenne du mois de mai de la Finlande</a:t>
            </a:r>
            <a:endParaRPr lang="en-H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34F10B-0DD1-99E0-6F06-80952CE8A8F2}"/>
              </a:ext>
            </a:extLst>
          </p:cNvPr>
          <p:cNvSpPr txBox="1"/>
          <p:nvPr/>
        </p:nvSpPr>
        <p:spPr>
          <a:xfrm>
            <a:off x="6443867" y="579332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Maxime</a:t>
            </a:r>
            <a:endParaRPr lang="en-HK" dirty="0">
              <a:solidFill>
                <a:srgbClr val="FF0000"/>
              </a:solidFill>
            </a:endParaRPr>
          </a:p>
        </p:txBody>
      </p:sp>
      <p:pic>
        <p:nvPicPr>
          <p:cNvPr id="7170" name="Picture 2" descr="Scénario détaillé Carte de Finlande et capitale Helsinki Image Vectorielle  Stock - Alamy">
            <a:extLst>
              <a:ext uri="{FF2B5EF4-FFF2-40B4-BE49-F238E27FC236}">
                <a16:creationId xmlns:a16="http://schemas.microsoft.com/office/drawing/2014/main" id="{A7E68580-C088-210C-51FB-81724F8F57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32"/>
          <a:stretch/>
        </p:blipFill>
        <p:spPr bwMode="auto">
          <a:xfrm>
            <a:off x="9235439" y="299132"/>
            <a:ext cx="1256947" cy="2914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3FC26BF-6992-1FC2-0A9A-DF7C8CB75A12}"/>
              </a:ext>
            </a:extLst>
          </p:cNvPr>
          <p:cNvSpPr/>
          <p:nvPr/>
        </p:nvSpPr>
        <p:spPr>
          <a:xfrm>
            <a:off x="4938138" y="3128251"/>
            <a:ext cx="1562100" cy="14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Finlande</a:t>
            </a:r>
            <a:endParaRPr lang="en-HK" b="1" dirty="0"/>
          </a:p>
        </p:txBody>
      </p:sp>
      <p:pic>
        <p:nvPicPr>
          <p:cNvPr id="7" name="Picture 16" descr="Printable Country Flag of Finland - Flagpole | Vector Country Flags of the  World">
            <a:extLst>
              <a:ext uri="{FF2B5EF4-FFF2-40B4-BE49-F238E27FC236}">
                <a16:creationId xmlns:a16="http://schemas.microsoft.com/office/drawing/2014/main" id="{35F59290-BD72-BD90-CED2-DFAA80567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03" y="2262935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8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DF09-6088-B6AD-4190-0E08A627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Notre organisation de travail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6891F8-35F1-F448-529C-0E3B81B96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8314" y="1825625"/>
            <a:ext cx="10035372" cy="4351338"/>
          </a:xfrm>
        </p:spPr>
      </p:pic>
    </p:spTree>
    <p:extLst>
      <p:ext uri="{BB962C8B-B14F-4D97-AF65-F5344CB8AC3E}">
        <p14:creationId xmlns:p14="http://schemas.microsoft.com/office/powerpoint/2010/main" val="253222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D2E1-0E4C-953B-C4AF-3532A22AA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20AB-07DF-E83E-DFAC-B9FDA19B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Première étape : État de l’art (~1 mois)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86A84-4006-F9E2-C043-E285C30F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highlight>
                  <a:srgbClr val="FFFF00"/>
                </a:highlight>
              </a:rPr>
              <a:t>Objectif</a:t>
            </a:r>
            <a:r>
              <a:rPr lang="fr-FR" dirty="0"/>
              <a:t> : Trouver un maximum de data sur chaque pays</a:t>
            </a:r>
            <a:endParaRPr lang="en-HK" dirty="0"/>
          </a:p>
        </p:txBody>
      </p:sp>
      <p:pic>
        <p:nvPicPr>
          <p:cNvPr id="4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B37B5002-5A96-F60B-25A9-5D010A8A2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646" y="0"/>
            <a:ext cx="2450354" cy="245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BBD65-A4C8-0728-27E7-A7FD4E13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7" y="2670887"/>
            <a:ext cx="4982217" cy="20217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218" name="Picture 2" descr="Sanctuaire de Suwa Taisha | Travel Japan, Office national du tourisme  japonais">
            <a:extLst>
              <a:ext uri="{FF2B5EF4-FFF2-40B4-BE49-F238E27FC236}">
                <a16:creationId xmlns:a16="http://schemas.microsoft.com/office/drawing/2014/main" id="{517B0429-2A18-AE97-6FAE-66E5A98E2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034" y="2450354"/>
            <a:ext cx="2669648" cy="168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6" descr="Ensemble Model Prediction / TCC">
            <a:extLst>
              <a:ext uri="{FF2B5EF4-FFF2-40B4-BE49-F238E27FC236}">
                <a16:creationId xmlns:a16="http://schemas.microsoft.com/office/drawing/2014/main" id="{F6BB362D-E7B6-642C-C7B8-BCD3296777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557DB6-AD33-796F-1A68-B39DEAF73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22" y="4471106"/>
            <a:ext cx="3183099" cy="20217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224" name="Picture 8" descr="EMODnet Platformpage">
            <a:extLst>
              <a:ext uri="{FF2B5EF4-FFF2-40B4-BE49-F238E27FC236}">
                <a16:creationId xmlns:a16="http://schemas.microsoft.com/office/drawing/2014/main" id="{FCA9B2C9-2A50-34A7-114C-981C7A535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5" b="30912"/>
          <a:stretch/>
        </p:blipFill>
        <p:spPr bwMode="auto">
          <a:xfrm>
            <a:off x="3177921" y="4756506"/>
            <a:ext cx="3257550" cy="121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EE95C1-E5C5-99E9-2F79-E7225DB2450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4875"/>
          <a:stretch/>
        </p:blipFill>
        <p:spPr>
          <a:xfrm>
            <a:off x="7693320" y="2957465"/>
            <a:ext cx="4096652" cy="29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96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7597-FEB0-0900-3F89-18344956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EBF1-6D94-3425-84AD-0E243066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Première étape : État de l’art (~1 mois)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9CE5-32C3-08A3-34ED-128AE3FFC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highlight>
                  <a:srgbClr val="FFFF00"/>
                </a:highlight>
              </a:rPr>
              <a:t>Objectif</a:t>
            </a:r>
            <a:r>
              <a:rPr lang="fr-FR" dirty="0"/>
              <a:t> : Trouvé un maximum de data sur chaque pays</a:t>
            </a:r>
            <a:endParaRPr lang="en-HK" dirty="0"/>
          </a:p>
        </p:txBody>
      </p:sp>
      <p:sp>
        <p:nvSpPr>
          <p:cNvPr id="9" name="AutoShape 6" descr="Ensemble Model Prediction / TCC">
            <a:extLst>
              <a:ext uri="{FF2B5EF4-FFF2-40B4-BE49-F238E27FC236}">
                <a16:creationId xmlns:a16="http://schemas.microsoft.com/office/drawing/2014/main" id="{2127D8AC-7A04-F735-3DF0-70D07A9BF1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pic>
        <p:nvPicPr>
          <p:cNvPr id="5" name="Picture 2" descr="France flag icon PNG 22111773 PNG">
            <a:extLst>
              <a:ext uri="{FF2B5EF4-FFF2-40B4-BE49-F238E27FC236}">
                <a16:creationId xmlns:a16="http://schemas.microsoft.com/office/drawing/2014/main" id="{5BB940B5-1EE9-DE05-7F47-4D19ECFD7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268" y="365125"/>
            <a:ext cx="2228897" cy="18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AFDD0B-0728-D26C-E98F-37BC5E227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003" y="2869167"/>
            <a:ext cx="4467317" cy="3533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A00A0-F05B-9CF8-DB5A-314C7DE13CE2}"/>
              </a:ext>
            </a:extLst>
          </p:cNvPr>
          <p:cNvSpPr txBox="1"/>
          <p:nvPr/>
        </p:nvSpPr>
        <p:spPr>
          <a:xfrm>
            <a:off x="1636776" y="4451044"/>
            <a:ext cx="3035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IMAGE DU LIVRE DE CIBLAT</a:t>
            </a:r>
            <a:endParaRPr lang="en-HK" b="1" dirty="0"/>
          </a:p>
        </p:txBody>
      </p:sp>
    </p:spTree>
    <p:extLst>
      <p:ext uri="{BB962C8B-B14F-4D97-AF65-F5344CB8AC3E}">
        <p14:creationId xmlns:p14="http://schemas.microsoft.com/office/powerpoint/2010/main" val="254352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A944-AD5E-1826-AFA3-DB2ACA04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Première étape : État de l’art (~1 mois)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2CAA9-7EBB-E4AE-61CE-B883B9652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highlight>
                  <a:srgbClr val="FFFF00"/>
                </a:highlight>
              </a:rPr>
              <a:t>Objectif</a:t>
            </a:r>
            <a:r>
              <a:rPr lang="fr-FR" dirty="0"/>
              <a:t> : Trouver un maximum de data sur chaque pays</a:t>
            </a:r>
            <a:endParaRPr lang="en-HK" dirty="0"/>
          </a:p>
        </p:txBody>
      </p:sp>
      <p:pic>
        <p:nvPicPr>
          <p:cNvPr id="6" name="Picture 16" descr="Printable Country Flag of Finland - Flagpole | Vector Country Flags of the  World">
            <a:extLst>
              <a:ext uri="{FF2B5EF4-FFF2-40B4-BE49-F238E27FC236}">
                <a16:creationId xmlns:a16="http://schemas.microsoft.com/office/drawing/2014/main" id="{1DF87895-B587-5F6F-D27D-610E9C9D0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412" y="365125"/>
            <a:ext cx="2247917" cy="224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3C9FCB-3B3C-4E79-5B0B-73C92765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34" y="2869167"/>
            <a:ext cx="5820587" cy="28483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8914C90-199B-42DD-46FE-4243644AB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339" y="2488934"/>
            <a:ext cx="3490109" cy="382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72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3932-C9D5-9E8F-5755-C1F2B32B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Bibliographie des papiers de recherche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E4BB5-E8CD-FF95-B90E-7095023C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/>
        </p:blipFill>
        <p:spPr>
          <a:xfrm>
            <a:off x="463267" y="2103120"/>
            <a:ext cx="4991887" cy="3638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C92B79-B2DF-AA55-8A05-BAB317CA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/>
        </p:blipFill>
        <p:spPr>
          <a:xfrm>
            <a:off x="6272784" y="2070639"/>
            <a:ext cx="5081016" cy="370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95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44D8-6274-905C-9F0C-FC699DB4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Nos modèles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4" name="Picture 2" descr="France flag icon PNG 22111773 PNG">
            <a:extLst>
              <a:ext uri="{FF2B5EF4-FFF2-40B4-BE49-F238E27FC236}">
                <a16:creationId xmlns:a16="http://schemas.microsoft.com/office/drawing/2014/main" id="{4371D5D2-AC61-A401-0120-510523E94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364" y="365125"/>
            <a:ext cx="2228897" cy="18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1660CD-1800-3136-DE05-ED3ECB78A0B4}"/>
              </a:ext>
            </a:extLst>
          </p:cNvPr>
          <p:cNvSpPr/>
          <p:nvPr/>
        </p:nvSpPr>
        <p:spPr>
          <a:xfrm>
            <a:off x="5219700" y="1517904"/>
            <a:ext cx="17526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FRANCE</a:t>
            </a:r>
            <a:endParaRPr lang="en-HK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6AD522-0369-1F7C-6480-F374FC518878}"/>
              </a:ext>
            </a:extLst>
          </p:cNvPr>
          <p:cNvSpPr/>
          <p:nvPr/>
        </p:nvSpPr>
        <p:spPr>
          <a:xfrm>
            <a:off x="1630681" y="3197352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Dates des vendages à Beaune</a:t>
            </a:r>
            <a:endParaRPr lang="en-HK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6209C6-892B-DEA9-7431-4AF80EF90F52}"/>
              </a:ext>
            </a:extLst>
          </p:cNvPr>
          <p:cNvSpPr/>
          <p:nvPr/>
        </p:nvSpPr>
        <p:spPr>
          <a:xfrm>
            <a:off x="8016240" y="3197352"/>
            <a:ext cx="240410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Dendrochronologie</a:t>
            </a:r>
            <a:endParaRPr lang="en-HK" b="1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482AFAC-75F1-72AD-AD6C-427074D9DCB5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4117087" y="1218439"/>
            <a:ext cx="765048" cy="31927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95AC642-445F-0AC9-DAA1-E7BDC5F2C393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274623" y="1253680"/>
            <a:ext cx="765048" cy="312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E2F8CA-0A4B-3456-F039-BB33284AAD4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903221" y="4111752"/>
            <a:ext cx="0" cy="752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582806-CD46-416C-272D-DF0379E61267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flipH="1">
            <a:off x="9218294" y="4111752"/>
            <a:ext cx="1" cy="615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66" name="Picture 2" descr="Réseau de neurones artificiels : réseaux neuronaux pour l'IA">
            <a:extLst>
              <a:ext uri="{FF2B5EF4-FFF2-40B4-BE49-F238E27FC236}">
                <a16:creationId xmlns:a16="http://schemas.microsoft.com/office/drawing/2014/main" id="{C2F41B90-2A76-4329-54A6-9DCEE8E05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663" y="4877092"/>
            <a:ext cx="2071116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Réseau de neurones artificiels : réseaux neuronaux pour l'IA">
            <a:extLst>
              <a:ext uri="{FF2B5EF4-FFF2-40B4-BE49-F238E27FC236}">
                <a16:creationId xmlns:a16="http://schemas.microsoft.com/office/drawing/2014/main" id="{49CA04A6-E78F-DA50-A21C-27143BC88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736" y="4727448"/>
            <a:ext cx="2071116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171ED30-D73D-D260-1AF5-2959A7BF614A}"/>
              </a:ext>
            </a:extLst>
          </p:cNvPr>
          <p:cNvSpPr txBox="1"/>
          <p:nvPr/>
        </p:nvSpPr>
        <p:spPr>
          <a:xfrm>
            <a:off x="1523" y="6192793"/>
            <a:ext cx="609447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fr-FR" sz="1100" b="0" i="0" dirty="0">
                <a:solidFill>
                  <a:srgbClr val="000000"/>
                </a:solidFill>
                <a:effectLst/>
              </a:rPr>
              <a:t>Réseau de neurones: </a:t>
            </a:r>
            <a:endParaRPr lang="fr-FR" sz="1100" dirty="0">
              <a:effectLst/>
            </a:endParaRPr>
          </a:p>
          <a:p>
            <a:pPr algn="l" rtl="0">
              <a:buNone/>
            </a:pPr>
            <a:r>
              <a:rPr lang="fr-FR" sz="1100" b="0" i="0" dirty="0">
                <a:solidFill>
                  <a:srgbClr val="000000"/>
                </a:solidFill>
                <a:effectLst/>
              </a:rPr>
              <a:t>Calcul du RMSE et choix du meilleur réseau (Batch size, Nbr Couches, Nbr </a:t>
            </a:r>
            <a:r>
              <a:rPr lang="fr-FR" sz="1100" b="0" i="0" dirty="0" err="1">
                <a:solidFill>
                  <a:srgbClr val="000000"/>
                </a:solidFill>
                <a:effectLst/>
              </a:rPr>
              <a:t>Neuronnes</a:t>
            </a:r>
            <a:r>
              <a:rPr lang="fr-FR" sz="1100" b="0" i="0" dirty="0">
                <a:solidFill>
                  <a:srgbClr val="000000"/>
                </a:solidFill>
                <a:effectLst/>
              </a:rPr>
              <a:t>/couches).</a:t>
            </a:r>
            <a:endParaRPr lang="fr-FR" sz="1100" dirty="0">
              <a:effectLst/>
            </a:endParaRPr>
          </a:p>
          <a:p>
            <a:pPr algn="l" rtl="0"/>
            <a:r>
              <a:rPr lang="fr-FR" sz="1100" b="0" i="0" dirty="0">
                <a:solidFill>
                  <a:srgbClr val="000000"/>
                </a:solidFill>
                <a:effectLst/>
              </a:rPr>
              <a:t>Entrainement meilleur réseaux 1850-2024, prédiction 1355-2024</a:t>
            </a:r>
            <a:endParaRPr lang="fr-FR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00129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E580-1C1C-089E-4FF2-E10D5648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i="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Choix du Réseau de neurones: Entrainement: 1876 - 2024, Prédiction + Calcul RMSE 1850-1875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E59BBCF-86C7-C2C1-504D-15026B7DC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04" y="2670048"/>
            <a:ext cx="7836408" cy="206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364638-AC4E-95A1-7966-6EE789D85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9"/>
          <a:stretch/>
        </p:blipFill>
        <p:spPr>
          <a:xfrm>
            <a:off x="1330238" y="1792224"/>
            <a:ext cx="4360406" cy="46223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722CAE-7B01-B4A5-22A1-67EA14769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480" y="1792224"/>
            <a:ext cx="4343282" cy="4622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6A032E-4DEC-F339-F298-2FE72A430BFF}"/>
              </a:ext>
            </a:extLst>
          </p:cNvPr>
          <p:cNvSpPr/>
          <p:nvPr/>
        </p:nvSpPr>
        <p:spPr>
          <a:xfrm>
            <a:off x="4832022" y="1615274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Dates des vendages à Beaune</a:t>
            </a:r>
            <a:endParaRPr lang="en-HK" b="1" dirty="0"/>
          </a:p>
        </p:txBody>
      </p:sp>
      <p:pic>
        <p:nvPicPr>
          <p:cNvPr id="14" name="Picture 2" descr="France flag icon PNG 22111773 PNG">
            <a:extLst>
              <a:ext uri="{FF2B5EF4-FFF2-40B4-BE49-F238E27FC236}">
                <a16:creationId xmlns:a16="http://schemas.microsoft.com/office/drawing/2014/main" id="{A0BDF883-505F-02EC-DB6E-58C300534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125" y="-30646"/>
            <a:ext cx="1275160" cy="10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43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58C9-D68B-2AB9-FBD9-5CDEBB59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Choix final (6,6,6) RMSE de 0.447 degrés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5D7D5-B386-D1A0-99CA-4BFC69F6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58" y="2249408"/>
            <a:ext cx="9974067" cy="2962688"/>
          </a:xfrm>
          <a:prstGeom prst="rect">
            <a:avLst/>
          </a:prstGeom>
        </p:spPr>
      </p:pic>
      <p:pic>
        <p:nvPicPr>
          <p:cNvPr id="6" name="Picture 2" descr="France flag icon PNG 22111773 PNG">
            <a:extLst>
              <a:ext uri="{FF2B5EF4-FFF2-40B4-BE49-F238E27FC236}">
                <a16:creationId xmlns:a16="http://schemas.microsoft.com/office/drawing/2014/main" id="{BA906383-D6FE-19CD-287C-5831DCAC3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647" y="140153"/>
            <a:ext cx="1461374" cy="121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225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76A1-38A0-E1B9-9335-10EA9D39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Entrainement meilleur réseaux 1850-2024, prédiction 1355-2024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23B6B-1FBA-2383-E34D-CF5EBE79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20" y="1657121"/>
            <a:ext cx="10274959" cy="4835754"/>
          </a:xfrm>
          <a:prstGeom prst="rect">
            <a:avLst/>
          </a:prstGeom>
        </p:spPr>
      </p:pic>
      <p:pic>
        <p:nvPicPr>
          <p:cNvPr id="6" name="Picture 2" descr="France flag icon PNG 22111773 PNG">
            <a:extLst>
              <a:ext uri="{FF2B5EF4-FFF2-40B4-BE49-F238E27FC236}">
                <a16:creationId xmlns:a16="http://schemas.microsoft.com/office/drawing/2014/main" id="{7C2B6867-8230-6FDD-8A80-21D700EE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167" y="210312"/>
            <a:ext cx="1110854" cy="92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11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8B19-E0C1-DA63-31B4-130F796A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Interprétation historique des données :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7CBEF-D72F-8F88-27C9-7F2F8BA31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i="0" dirty="0">
                <a:solidFill>
                  <a:srgbClr val="000000"/>
                </a:solidFill>
                <a:effectLst/>
              </a:rPr>
              <a:t>1434-1435, 1442-1443</a:t>
            </a:r>
            <a:r>
              <a:rPr lang="fr-FR" b="0" i="0" dirty="0">
                <a:solidFill>
                  <a:srgbClr val="000000"/>
                </a:solidFill>
                <a:effectLst/>
              </a:rPr>
              <a:t>: Hivers remarquablement froids et longs </a:t>
            </a:r>
            <a:endParaRPr lang="fr-FR" dirty="0">
              <a:effectLst/>
            </a:endParaRPr>
          </a:p>
          <a:p>
            <a:endParaRPr lang="fr-FR" b="1" i="0" dirty="0">
              <a:solidFill>
                <a:srgbClr val="000000"/>
              </a:solidFill>
              <a:effectLst/>
            </a:endParaRPr>
          </a:p>
          <a:p>
            <a:r>
              <a:rPr lang="fr-FR" b="1" i="0" dirty="0">
                <a:solidFill>
                  <a:srgbClr val="000000"/>
                </a:solidFill>
                <a:effectLst/>
              </a:rPr>
              <a:t>Grand hiver de 1709: </a:t>
            </a:r>
            <a:r>
              <a:rPr lang="fr-FR" b="0" i="0" dirty="0">
                <a:solidFill>
                  <a:srgbClr val="000000"/>
                </a:solidFill>
                <a:effectLst/>
              </a:rPr>
              <a:t>Grande </a:t>
            </a:r>
            <a:r>
              <a:rPr lang="fr-FR" b="0" i="0" dirty="0" err="1">
                <a:solidFill>
                  <a:srgbClr val="000000"/>
                </a:solidFill>
                <a:effectLst/>
              </a:rPr>
              <a:t>periode</a:t>
            </a:r>
            <a:r>
              <a:rPr lang="fr-FR" b="0" i="0" dirty="0">
                <a:solidFill>
                  <a:srgbClr val="000000"/>
                </a:solidFill>
                <a:effectLst/>
              </a:rPr>
              <a:t> de famine, 600 000 morts ! </a:t>
            </a:r>
            <a:endParaRPr lang="fr-FR" dirty="0">
              <a:effectLst/>
            </a:endParaRPr>
          </a:p>
          <a:p>
            <a:pPr algn="l" rtl="0"/>
            <a:endParaRPr lang="fr-FR" b="1" i="0" dirty="0">
              <a:solidFill>
                <a:srgbClr val="000000"/>
              </a:solidFill>
              <a:effectLst/>
            </a:endParaRPr>
          </a:p>
          <a:p>
            <a:pPr algn="l" rtl="0"/>
            <a:r>
              <a:rPr lang="fr-FR" b="1" i="0" dirty="0">
                <a:solidFill>
                  <a:srgbClr val="000000"/>
                </a:solidFill>
                <a:effectLst/>
              </a:rPr>
              <a:t>A faire: </a:t>
            </a:r>
            <a:r>
              <a:rPr lang="fr-FR" b="0" i="0" dirty="0">
                <a:solidFill>
                  <a:srgbClr val="000000"/>
                </a:solidFill>
                <a:effectLst/>
              </a:rPr>
              <a:t>Etudier la pente depuis 1975. </a:t>
            </a:r>
            <a:endParaRPr lang="fr-FR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928FD-78BA-CF00-DD53-08F4738B1365}"/>
              </a:ext>
            </a:extLst>
          </p:cNvPr>
          <p:cNvSpPr txBox="1"/>
          <p:nvPr/>
        </p:nvSpPr>
        <p:spPr>
          <a:xfrm>
            <a:off x="548640" y="5089286"/>
            <a:ext cx="10881360" cy="38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fr-FR" sz="1200" b="0" i="0" dirty="0">
                <a:solidFill>
                  <a:srgbClr val="000000"/>
                </a:solidFill>
                <a:effectLst/>
                <a:latin typeface="YAFdJjTk5UU 0"/>
              </a:rPr>
              <a:t>Source: http://asso.villejust.free.fr/meteo/Les-grands-hivers.html , " Recueil de données statistiques relatives à la climatologie de la France "</a:t>
            </a:r>
            <a:r>
              <a:rPr lang="fr-FR" sz="1200" dirty="0">
                <a:solidFill>
                  <a:srgbClr val="000000"/>
                </a:solidFill>
                <a:latin typeface="YAFdJjTk5UU 0"/>
              </a:rPr>
              <a:t> </a:t>
            </a:r>
            <a:r>
              <a:rPr lang="fr-FR" sz="1200" b="0" i="0" dirty="0">
                <a:solidFill>
                  <a:srgbClr val="000000"/>
                </a:solidFill>
                <a:effectLst/>
                <a:latin typeface="YAFdJjTk5UU 0"/>
              </a:rPr>
              <a:t>de J. Sanson, 1945. </a:t>
            </a:r>
            <a:endParaRPr lang="fr-FR" sz="1200" dirty="0">
              <a:solidFill>
                <a:srgbClr val="000000"/>
              </a:solidFill>
              <a:effectLst/>
              <a:latin typeface="YAFdJjTk5UU 0"/>
            </a:endParaRPr>
          </a:p>
        </p:txBody>
      </p:sp>
      <p:pic>
        <p:nvPicPr>
          <p:cNvPr id="8" name="Picture 2" descr="France flag icon PNG 22111773 PNG">
            <a:extLst>
              <a:ext uri="{FF2B5EF4-FFF2-40B4-BE49-F238E27FC236}">
                <a16:creationId xmlns:a16="http://schemas.microsoft.com/office/drawing/2014/main" id="{313A5114-CB9E-8374-081B-B999D1CE8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619" y="168556"/>
            <a:ext cx="1006381" cy="84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399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C189-C0F0-9385-0EFA-17ABF657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F1C0-1B1A-39FF-C906-DEE62CCD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Nos modèles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A7545E-14E5-CCF8-F128-B80AAC851A57}"/>
              </a:ext>
            </a:extLst>
          </p:cNvPr>
          <p:cNvSpPr/>
          <p:nvPr/>
        </p:nvSpPr>
        <p:spPr>
          <a:xfrm>
            <a:off x="5219700" y="1517904"/>
            <a:ext cx="17526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JAPON</a:t>
            </a:r>
            <a:endParaRPr lang="en-HK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95FF87-F0C2-A196-6B91-0BFFC5998D93}"/>
              </a:ext>
            </a:extLst>
          </p:cNvPr>
          <p:cNvSpPr/>
          <p:nvPr/>
        </p:nvSpPr>
        <p:spPr>
          <a:xfrm>
            <a:off x="505969" y="3197352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DATE DE FLORAISON DES CERISIER DE KYOTO</a:t>
            </a:r>
            <a:endParaRPr lang="en-HK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40D543-E223-EDD0-05E9-E39A9F05C503}"/>
              </a:ext>
            </a:extLst>
          </p:cNvPr>
          <p:cNvSpPr/>
          <p:nvPr/>
        </p:nvSpPr>
        <p:spPr>
          <a:xfrm>
            <a:off x="8641080" y="3197352"/>
            <a:ext cx="28746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DENDROCHRONOLOGIE</a:t>
            </a:r>
            <a:endParaRPr lang="en-HK" b="1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5ADB4F5-35A3-7225-C6B4-8CF1555B9DA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3554731" y="656083"/>
            <a:ext cx="765048" cy="431749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3CA2241-EBA0-2854-5321-A6DEEE6D9A33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704677" y="823627"/>
            <a:ext cx="765048" cy="39824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5B7287-DBEB-F633-634C-482C730074C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778509" y="4111752"/>
            <a:ext cx="0" cy="752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E2ACEF-1713-EB4D-53C0-5D6E355B8990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flipH="1">
            <a:off x="10078401" y="4111752"/>
            <a:ext cx="1" cy="615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66" name="Picture 2" descr="Réseau de neurones artificiels : réseaux neuronaux pour l'IA">
            <a:extLst>
              <a:ext uri="{FF2B5EF4-FFF2-40B4-BE49-F238E27FC236}">
                <a16:creationId xmlns:a16="http://schemas.microsoft.com/office/drawing/2014/main" id="{DED81AF8-4B8A-7154-5D58-2E515D8A9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1" y="4877092"/>
            <a:ext cx="2071116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Réseau de neurones artificiels : réseaux neuronaux pour l'IA">
            <a:extLst>
              <a:ext uri="{FF2B5EF4-FFF2-40B4-BE49-F238E27FC236}">
                <a16:creationId xmlns:a16="http://schemas.microsoft.com/office/drawing/2014/main" id="{1DC82B36-9A42-8BC6-9C5D-8837CB078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843" y="4727448"/>
            <a:ext cx="2071116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567E13-0861-94D2-1DC8-8A92B8294DFE}"/>
              </a:ext>
            </a:extLst>
          </p:cNvPr>
          <p:cNvSpPr/>
          <p:nvPr/>
        </p:nvSpPr>
        <p:spPr>
          <a:xfrm>
            <a:off x="5295137" y="3212592"/>
            <a:ext cx="160172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OMIWATARI </a:t>
            </a:r>
            <a:endParaRPr lang="en-HK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CCB23B-C2AE-63F1-7D27-A42E8E93EDDB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 flipH="1">
            <a:off x="6095999" y="2432304"/>
            <a:ext cx="1" cy="780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FF9B4F-8968-DF7A-09AA-F4CF6483CCDA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>
            <a:off x="1778509" y="4111752"/>
            <a:ext cx="2592360" cy="1607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117DE9-F679-3EA9-F4F0-DBA9AA6ED0C8}"/>
              </a:ext>
            </a:extLst>
          </p:cNvPr>
          <p:cNvSpPr txBox="1"/>
          <p:nvPr/>
        </p:nvSpPr>
        <p:spPr>
          <a:xfrm>
            <a:off x="3104208" y="5719340"/>
            <a:ext cx="2533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MODÈLE D’ARRHENIUS</a:t>
            </a:r>
            <a:endParaRPr lang="en-HK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8E4A2A-0303-BD25-B7DB-CFCA9F4D0C04}"/>
              </a:ext>
            </a:extLst>
          </p:cNvPr>
          <p:cNvCxnSpPr>
            <a:cxnSpLocks/>
            <a:stCxn id="13" idx="2"/>
            <a:endCxn id="35" idx="0"/>
          </p:cNvCxnSpPr>
          <p:nvPr/>
        </p:nvCxnSpPr>
        <p:spPr>
          <a:xfrm>
            <a:off x="1778509" y="4111752"/>
            <a:ext cx="3002073" cy="752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23FE02B-A5F0-A25F-5BF6-8577A89BC397}"/>
              </a:ext>
            </a:extLst>
          </p:cNvPr>
          <p:cNvSpPr txBox="1"/>
          <p:nvPr/>
        </p:nvSpPr>
        <p:spPr>
          <a:xfrm>
            <a:off x="3666334" y="4864608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UN MODÈLE SIMPLE</a:t>
            </a:r>
            <a:endParaRPr lang="en-HK" dirty="0"/>
          </a:p>
        </p:txBody>
      </p:sp>
      <p:pic>
        <p:nvPicPr>
          <p:cNvPr id="41" name="Picture 2" descr="Réseau de neurones artificiels : réseaux neuronaux pour l'IA">
            <a:extLst>
              <a:ext uri="{FF2B5EF4-FFF2-40B4-BE49-F238E27FC236}">
                <a16:creationId xmlns:a16="http://schemas.microsoft.com/office/drawing/2014/main" id="{ECD303DF-7991-0543-ED81-3D7E19D0A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819" y="3221989"/>
            <a:ext cx="1320547" cy="88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272E87-3EB1-E2FD-A627-0158285D60DB}"/>
              </a:ext>
            </a:extLst>
          </p:cNvPr>
          <p:cNvCxnSpPr>
            <a:cxnSpLocks/>
            <a:stCxn id="3" idx="1"/>
            <a:endCxn id="13" idx="3"/>
          </p:cNvCxnSpPr>
          <p:nvPr/>
        </p:nvCxnSpPr>
        <p:spPr>
          <a:xfrm flipH="1" flipV="1">
            <a:off x="3051049" y="3654552"/>
            <a:ext cx="2244088" cy="15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610B5563-F20A-DCB2-478B-476870882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696" y="240032"/>
            <a:ext cx="2071115" cy="207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8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B5D3-EEC6-7D78-6C38-1BC5B37E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Modèle d’Arrhenius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F5235-0225-26F3-C266-5C52F8D5F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9371"/>
            <a:ext cx="8799949" cy="457845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A6732CE-396C-AE0B-2665-A41F50CAFB7F}"/>
              </a:ext>
            </a:extLst>
          </p:cNvPr>
          <p:cNvSpPr/>
          <p:nvPr/>
        </p:nvSpPr>
        <p:spPr>
          <a:xfrm>
            <a:off x="4351425" y="3429000"/>
            <a:ext cx="1435608" cy="14569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8F4AEF-35C0-A285-FB5D-40FB9D3D5986}"/>
              </a:ext>
            </a:extLst>
          </p:cNvPr>
          <p:cNvSpPr/>
          <p:nvPr/>
        </p:nvSpPr>
        <p:spPr>
          <a:xfrm>
            <a:off x="6994787" y="4690870"/>
            <a:ext cx="1435608" cy="14569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E369EF-ACAB-A80B-44AD-721FCA32229C}"/>
              </a:ext>
            </a:extLst>
          </p:cNvPr>
          <p:cNvSpPr/>
          <p:nvPr/>
        </p:nvSpPr>
        <p:spPr>
          <a:xfrm>
            <a:off x="9618330" y="1819179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DATE DE FLORAISON DES CERISIER DE KYOTO</a:t>
            </a:r>
            <a:endParaRPr lang="en-HK" b="1" dirty="0"/>
          </a:p>
        </p:txBody>
      </p:sp>
      <p:pic>
        <p:nvPicPr>
          <p:cNvPr id="8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C8EC6E76-715C-5FD1-5989-98588AA18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216" y="93062"/>
            <a:ext cx="2071115" cy="207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637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5061-95DE-40C8-3A98-0695B5C3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Modèle simple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05BF9-E35A-6905-C314-EF6612F00B34}"/>
              </a:ext>
            </a:extLst>
          </p:cNvPr>
          <p:cNvSpPr txBox="1"/>
          <p:nvPr/>
        </p:nvSpPr>
        <p:spPr>
          <a:xfrm>
            <a:off x="905256" y="1792224"/>
            <a:ext cx="7793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 = f(d) 			Avec d = date des floraisons des cerisiers à Kyoto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161D3-328E-719D-9864-9B5388D1651A}"/>
              </a:ext>
            </a:extLst>
          </p:cNvPr>
          <p:cNvSpPr txBox="1"/>
          <p:nvPr/>
        </p:nvSpPr>
        <p:spPr>
          <a:xfrm>
            <a:off x="905256" y="2263092"/>
            <a:ext cx="883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 = f(x) = a / (b + x) + c	Avec entrainement pour déterminer trois constantes : </a:t>
            </a:r>
            <a:r>
              <a:rPr lang="fr-FR" dirty="0" err="1"/>
              <a:t>a,b,c</a:t>
            </a:r>
            <a:r>
              <a:rPr lang="fr-FR" dirty="0"/>
              <a:t> 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C508F1-30EB-016B-F3F8-1AB4C5D4A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820" y="2788503"/>
            <a:ext cx="7886727" cy="370437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C5B862C-6CF9-76EA-521E-AA8BE973D7EF}"/>
              </a:ext>
            </a:extLst>
          </p:cNvPr>
          <p:cNvSpPr/>
          <p:nvPr/>
        </p:nvSpPr>
        <p:spPr>
          <a:xfrm>
            <a:off x="1855820" y="2828138"/>
            <a:ext cx="1435608" cy="14569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51715-B1A4-281E-3367-660356F6ED14}"/>
              </a:ext>
            </a:extLst>
          </p:cNvPr>
          <p:cNvSpPr txBox="1"/>
          <p:nvPr/>
        </p:nvSpPr>
        <p:spPr>
          <a:xfrm>
            <a:off x="2718482" y="3429000"/>
            <a:ext cx="1145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Problème</a:t>
            </a:r>
            <a:endParaRPr lang="en-HK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4913C4-C26A-BF3F-A14C-FA2DFC4285EB}"/>
              </a:ext>
            </a:extLst>
          </p:cNvPr>
          <p:cNvSpPr/>
          <p:nvPr/>
        </p:nvSpPr>
        <p:spPr>
          <a:xfrm>
            <a:off x="9646920" y="1792224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DATE DE FLORAISON DES CERISIER DE KYOTO</a:t>
            </a:r>
            <a:endParaRPr lang="en-HK" b="1" dirty="0"/>
          </a:p>
        </p:txBody>
      </p:sp>
      <p:pic>
        <p:nvPicPr>
          <p:cNvPr id="13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24F124C3-6E05-EE90-5EEB-BC236C0C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216" y="93062"/>
            <a:ext cx="2071115" cy="207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894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D8B2-258B-1DCE-03A1-8747E2E8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Réseau de neurones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8CD79E08-3CB6-73F0-07BD-C7C448506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216" y="93062"/>
            <a:ext cx="2071115" cy="207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00221-2DED-D50B-F904-172E7DF9F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4" y="1870761"/>
            <a:ext cx="9628468" cy="47290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999839-EC8C-5222-07CA-56655267C68D}"/>
              </a:ext>
            </a:extLst>
          </p:cNvPr>
          <p:cNvSpPr/>
          <p:nvPr/>
        </p:nvSpPr>
        <p:spPr>
          <a:xfrm>
            <a:off x="9638149" y="1706977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DATE DE FLORAISON DES CERISIER DE KYOTO</a:t>
            </a:r>
            <a:endParaRPr lang="en-HK" b="1" dirty="0"/>
          </a:p>
        </p:txBody>
      </p:sp>
    </p:spTree>
    <p:extLst>
      <p:ext uri="{BB962C8B-B14F-4D97-AF65-F5344CB8AC3E}">
        <p14:creationId xmlns:p14="http://schemas.microsoft.com/office/powerpoint/2010/main" val="4057415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70AF-AF1A-9FD7-BBD2-699466FE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Réseau de neurones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C7FF3-31F2-D607-00E0-17A533CFC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8" y="2941043"/>
            <a:ext cx="10469436" cy="25911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0771DD-D28F-8B9E-D675-146B83E7DE63}"/>
              </a:ext>
            </a:extLst>
          </p:cNvPr>
          <p:cNvSpPr/>
          <p:nvPr/>
        </p:nvSpPr>
        <p:spPr>
          <a:xfrm>
            <a:off x="9200384" y="1706977"/>
            <a:ext cx="2391541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Dendrochronologie</a:t>
            </a:r>
            <a:endParaRPr lang="en-HK" b="1" dirty="0"/>
          </a:p>
        </p:txBody>
      </p:sp>
      <p:pic>
        <p:nvPicPr>
          <p:cNvPr id="7" name="Picture 14" descr="Japan Flag, Japan, Flag, Japan Flag Shinning PNG and Vector with  Transparent Background for Free Download">
            <a:extLst>
              <a:ext uri="{FF2B5EF4-FFF2-40B4-BE49-F238E27FC236}">
                <a16:creationId xmlns:a16="http://schemas.microsoft.com/office/drawing/2014/main" id="{F77DC291-851F-9145-12ED-F6FFAC49C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810" y="93062"/>
            <a:ext cx="2071115" cy="207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5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A71E-FA7D-C806-605D-536ECF52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340C-2073-895E-46CE-CC308FB1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Nos modèles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CEEA3E-5EF1-BF3B-7227-BB183750564B}"/>
              </a:ext>
            </a:extLst>
          </p:cNvPr>
          <p:cNvSpPr/>
          <p:nvPr/>
        </p:nvSpPr>
        <p:spPr>
          <a:xfrm>
            <a:off x="5219700" y="1517904"/>
            <a:ext cx="17526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FINLANDE</a:t>
            </a:r>
            <a:endParaRPr lang="en-HK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9CCA82-A5C1-9447-1A8B-431E2C3E09A4}"/>
              </a:ext>
            </a:extLst>
          </p:cNvPr>
          <p:cNvSpPr/>
          <p:nvPr/>
        </p:nvSpPr>
        <p:spPr>
          <a:xfrm>
            <a:off x="4823460" y="3127883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GEL DE LA RIVIERE TORNIONJOKI</a:t>
            </a:r>
            <a:endParaRPr lang="en-HK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7B9421-6A48-C967-FA41-BB2968A31545}"/>
              </a:ext>
            </a:extLst>
          </p:cNvPr>
          <p:cNvCxnSpPr>
            <a:cxnSpLocks/>
            <a:stCxn id="13" idx="2"/>
            <a:endCxn id="11266" idx="0"/>
          </p:cNvCxnSpPr>
          <p:nvPr/>
        </p:nvCxnSpPr>
        <p:spPr>
          <a:xfrm>
            <a:off x="6096000" y="4042283"/>
            <a:ext cx="0" cy="752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66" name="Picture 2" descr="Réseau de neurones artificiels : réseaux neuronaux pour l'IA">
            <a:extLst>
              <a:ext uri="{FF2B5EF4-FFF2-40B4-BE49-F238E27FC236}">
                <a16:creationId xmlns:a16="http://schemas.microsoft.com/office/drawing/2014/main" id="{3D364602-B495-652F-DD55-7604CD83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442" y="4795139"/>
            <a:ext cx="2071116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9D9C5CB-B712-01A7-04D6-A83858E85BA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6096000" y="2432304"/>
            <a:ext cx="0" cy="695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16" descr="Printable Country Flag of Finland - Flagpole | Vector Country Flags of the  World">
            <a:extLst>
              <a:ext uri="{FF2B5EF4-FFF2-40B4-BE49-F238E27FC236}">
                <a16:creationId xmlns:a16="http://schemas.microsoft.com/office/drawing/2014/main" id="{1546DAF3-4ABA-98D8-590B-FE6B5B08D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16" y="365124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902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AA7E-51E9-BC34-7A8D-4BF4081D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Modèle simple</a:t>
            </a:r>
            <a:endParaRPr lang="en-HK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BCE34-9D6E-2981-A930-A297A0E0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2091711"/>
            <a:ext cx="6011114" cy="4401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96C81B-480E-6A7A-AF73-3FB030E0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91711"/>
            <a:ext cx="5801535" cy="4420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52137-DA26-5166-97DD-62FB5CF152EB}"/>
              </a:ext>
            </a:extLst>
          </p:cNvPr>
          <p:cNvSpPr txBox="1"/>
          <p:nvPr/>
        </p:nvSpPr>
        <p:spPr>
          <a:xfrm>
            <a:off x="3383280" y="3354896"/>
            <a:ext cx="5142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Problème : Pas assez de data pour l’entraînement.</a:t>
            </a:r>
            <a:endParaRPr lang="en-HK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D402A2-4BC8-2E5B-4697-28D5BC13BC14}"/>
              </a:ext>
            </a:extLst>
          </p:cNvPr>
          <p:cNvSpPr/>
          <p:nvPr/>
        </p:nvSpPr>
        <p:spPr>
          <a:xfrm>
            <a:off x="9285732" y="776288"/>
            <a:ext cx="25450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GEL DE LA RIVIERE TORNIONJOKI</a:t>
            </a:r>
            <a:endParaRPr lang="en-HK" b="1" dirty="0"/>
          </a:p>
        </p:txBody>
      </p:sp>
      <p:pic>
        <p:nvPicPr>
          <p:cNvPr id="10" name="Picture 16" descr="Printable Country Flag of Finland - Flagpole | Vector Country Flags of the  World">
            <a:extLst>
              <a:ext uri="{FF2B5EF4-FFF2-40B4-BE49-F238E27FC236}">
                <a16:creationId xmlns:a16="http://schemas.microsoft.com/office/drawing/2014/main" id="{208EAEBA-99E5-1007-0EF7-52AC69ED1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767" y="11350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429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F369-6D64-4E86-2C12-7AA9926E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Corrélation entre chaque pays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0AB3-DADE-9438-EC73-864DA68F1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France – Finlande </a:t>
            </a: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France – Japon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Japon - Finlande </a:t>
            </a:r>
            <a:endParaRPr lang="en-H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791E4-7B8F-5C8A-1A4F-49872F04A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399" y="1931568"/>
            <a:ext cx="6313076" cy="368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4BBF2-A23C-973C-3E90-4AB12EE43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13" y="4855464"/>
            <a:ext cx="5670803" cy="470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99515B-BFCA-3181-09D1-BA4EBDD19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588" y="3381945"/>
            <a:ext cx="5937828" cy="47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30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1973-3063-FF41-4027-7A3EBCA8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ighlight>
                  <a:srgbClr val="FFFF00"/>
                </a:highlight>
              </a:rPr>
              <a:t>Suite du projet</a:t>
            </a:r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B5562-7C74-1172-3C1B-9885F349A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Recherche de tendances</a:t>
            </a:r>
          </a:p>
          <a:p>
            <a:r>
              <a:rPr lang="fr-FR" dirty="0"/>
              <a:t>Recherche dans l’histoire pour expliquer les grandes tendances</a:t>
            </a:r>
          </a:p>
          <a:p>
            <a:r>
              <a:rPr lang="en-HK" dirty="0" err="1"/>
              <a:t>Amélioration</a:t>
            </a:r>
            <a:r>
              <a:rPr lang="en-HK" dirty="0"/>
              <a:t> du RMSE des </a:t>
            </a:r>
            <a:r>
              <a:rPr lang="en-HK" dirty="0" err="1"/>
              <a:t>modèles</a:t>
            </a:r>
            <a:endParaRPr lang="en-HK" dirty="0"/>
          </a:p>
          <a:p>
            <a:r>
              <a:rPr lang="en-HK" dirty="0" err="1"/>
              <a:t>Trouver</a:t>
            </a:r>
            <a:r>
              <a:rPr lang="en-HK" dirty="0"/>
              <a:t> plus de data</a:t>
            </a:r>
          </a:p>
        </p:txBody>
      </p:sp>
      <p:pic>
        <p:nvPicPr>
          <p:cNvPr id="14342" name="Picture 6" descr="Planète : le changement climatique observé | Météo-France">
            <a:extLst>
              <a:ext uri="{FF2B5EF4-FFF2-40B4-BE49-F238E27FC236}">
                <a16:creationId xmlns:a16="http://schemas.microsoft.com/office/drawing/2014/main" id="{5BF06CF9-F7A5-8491-B8F7-B00FF30E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05301"/>
            <a:ext cx="76200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23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548</Words>
  <Application>Microsoft Office PowerPoint</Application>
  <PresentationFormat>Grand écran</PresentationFormat>
  <Paragraphs>98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YAFdJjTk5UU 0</vt:lpstr>
      <vt:lpstr>Office Theme</vt:lpstr>
      <vt:lpstr>PALEOCLIMATOLOGIE</vt:lpstr>
      <vt:lpstr>Le but de notre projet</vt:lpstr>
      <vt:lpstr>Évolution de notre projet</vt:lpstr>
      <vt:lpstr>Évolution de notre projet</vt:lpstr>
      <vt:lpstr>Évolution de notre projet</vt:lpstr>
      <vt:lpstr>Évolution de notre projet</vt:lpstr>
      <vt:lpstr>Notre organisation de travail</vt:lpstr>
      <vt:lpstr>Première étape : État de l’art (~1 mois)</vt:lpstr>
      <vt:lpstr>Première étape : État de l’art (~1 mois)</vt:lpstr>
      <vt:lpstr>Première étape : État de l’art (~1 mois)</vt:lpstr>
      <vt:lpstr>Bibliographie des papiers de recherche</vt:lpstr>
      <vt:lpstr>Nos modèles</vt:lpstr>
      <vt:lpstr>Choix du Réseau de neurones: Entrainement: 1876 - 2024, Prédiction + Calcul RMSE 1850-1875</vt:lpstr>
      <vt:lpstr>Choix final (6,6,6) RMSE de 0.447 degrés</vt:lpstr>
      <vt:lpstr>Entrainement meilleur réseaux 1850-2024, prédiction 1355-2024</vt:lpstr>
      <vt:lpstr>Interprétation historique des données :</vt:lpstr>
      <vt:lpstr>Nos modèles</vt:lpstr>
      <vt:lpstr>Modèle d’Arrhenius</vt:lpstr>
      <vt:lpstr>Modèle simple</vt:lpstr>
      <vt:lpstr>Réseau de neurones</vt:lpstr>
      <vt:lpstr>Réseau de neurones</vt:lpstr>
      <vt:lpstr>Nos modèles</vt:lpstr>
      <vt:lpstr>Modèle simple</vt:lpstr>
      <vt:lpstr>Corrélation entre chaque pays</vt:lpstr>
      <vt:lpstr>Suite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Saffon</dc:creator>
  <cp:lastModifiedBy>Gaspard Vibert</cp:lastModifiedBy>
  <cp:revision>21</cp:revision>
  <dcterms:created xsi:type="dcterms:W3CDTF">2025-05-18T21:38:44Z</dcterms:created>
  <dcterms:modified xsi:type="dcterms:W3CDTF">2025-05-19T09:21:05Z</dcterms:modified>
</cp:coreProperties>
</file>